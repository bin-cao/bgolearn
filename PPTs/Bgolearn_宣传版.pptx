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3"/>
    <p:restoredTop sz="94677"/>
  </p:normalViewPr>
  <p:slideViewPr>
    <p:cSldViewPr snapToGrid="0" snapToObjects="1">
      <p:cViewPr varScale="1">
        <p:scale>
          <a:sx n="84" d="100"/>
          <a:sy n="84" d="100"/>
        </p:scale>
        <p:origin x="91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419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C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54864" cy="6858000"/>
          </a:xfrm>
          <a:prstGeom prst="rect">
            <a:avLst/>
          </a:prstGeom>
          <a:solidFill>
            <a:srgbClr val="C9E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351520" y="45720"/>
            <a:ext cx="3840480" cy="3840480"/>
          </a:xfrm>
          <a:prstGeom prst="ellipse">
            <a:avLst/>
          </a:prstGeom>
          <a:solidFill>
            <a:srgbClr val="223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71560" y="356616"/>
            <a:ext cx="3200400" cy="3200400"/>
          </a:xfrm>
          <a:prstGeom prst="ellipse">
            <a:avLst/>
          </a:prstGeom>
          <a:solidFill>
            <a:srgbClr val="162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8000" dirty="0"/>
          </a:p>
        </p:txBody>
      </p:sp>
      <p:sp>
        <p:nvSpPr>
          <p:cNvPr id="7" name="Rounded Rectangle 6"/>
          <p:cNvSpPr/>
          <p:nvPr/>
        </p:nvSpPr>
        <p:spPr>
          <a:xfrm>
            <a:off x="777240" y="685800"/>
            <a:ext cx="210312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294" y="691867"/>
            <a:ext cx="927003" cy="6795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1874519"/>
            <a:ext cx="1042416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FFFFFF"/>
                </a:solidFill>
                <a:latin typeface="Songti SC"/>
              </a:rPr>
              <a:t>用更少实验，发现更好的材料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971800"/>
            <a:ext cx="100584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C9ED88"/>
                </a:solidFill>
                <a:latin typeface="Hiragino Sans GB"/>
              </a:rPr>
              <a:t>Bgolearn · 面向材料发现的统一贝叶斯优化框架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520440"/>
            <a:ext cx="100584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CBD7D3"/>
                </a:solidFill>
                <a:latin typeface="Hiragino Sans GB"/>
              </a:rPr>
              <a:t>预测性能 · 量化不确定性 · 推荐下一组最值得做的实验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06240"/>
            <a:ext cx="10607040" cy="10972"/>
          </a:xfrm>
          <a:prstGeom prst="rect">
            <a:avLst/>
          </a:prstGeom>
          <a:solidFill>
            <a:srgbClr val="3E5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77240" y="4434840"/>
            <a:ext cx="2542032" cy="1143000"/>
          </a:xfrm>
          <a:prstGeom prst="roundRect">
            <a:avLst/>
          </a:prstGeom>
          <a:solidFill>
            <a:srgbClr val="162E29"/>
          </a:solidFill>
          <a:ln w="10160">
            <a:solidFill>
              <a:srgbClr val="3E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617720"/>
            <a:ext cx="2542032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FFFFFF"/>
                </a:solidFill>
                <a:latin typeface="Hiragino Sans GB"/>
              </a:rPr>
              <a:t>npj Computational Materials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93792"/>
            <a:ext cx="25420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 dirty="0">
                <a:solidFill>
                  <a:srgbClr val="C9ED88"/>
                </a:solidFill>
                <a:latin typeface="Hiragino Sans GB"/>
              </a:rPr>
              <a:t>2026 </a:t>
            </a:r>
            <a:r>
              <a:rPr sz="1100" b="0" dirty="0" err="1">
                <a:solidFill>
                  <a:srgbClr val="C9ED88"/>
                </a:solidFill>
                <a:latin typeface="Hiragino Sans GB"/>
              </a:rPr>
              <a:t>正式论文</a:t>
            </a:r>
            <a:endParaRPr sz="1100" b="0" dirty="0">
              <a:solidFill>
                <a:srgbClr val="C9ED88"/>
              </a:solidFill>
              <a:latin typeface="Hiragino Sans GB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465576" y="4434840"/>
            <a:ext cx="2542032" cy="1143000"/>
          </a:xfrm>
          <a:prstGeom prst="roundRect">
            <a:avLst/>
          </a:prstGeom>
          <a:solidFill>
            <a:srgbClr val="162E29"/>
          </a:solidFill>
          <a:ln w="10160">
            <a:solidFill>
              <a:srgbClr val="3E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65576" y="4617720"/>
            <a:ext cx="2542032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FFFFFF"/>
                </a:solidFill>
                <a:latin typeface="Hiragino Sans GB"/>
              </a:rPr>
              <a:t>Springer 教材第 1 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5576" y="5193792"/>
            <a:ext cx="2542032" cy="24173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lang="en-CN" sz="1100" dirty="0">
                <a:solidFill>
                  <a:srgbClr val="C9ED88"/>
                </a:solidFill>
                <a:latin typeface="Hiragino Sans GB"/>
              </a:rPr>
              <a:t>书籍</a:t>
            </a:r>
            <a:r>
              <a:rPr sz="1100" b="0" dirty="0" err="1">
                <a:solidFill>
                  <a:srgbClr val="C9ED88"/>
                </a:solidFill>
                <a:latin typeface="Hiragino Sans GB"/>
              </a:rPr>
              <a:t>采用</a:t>
            </a:r>
            <a:endParaRPr sz="1100" b="0" dirty="0">
              <a:solidFill>
                <a:srgbClr val="C9ED88"/>
              </a:solidFill>
              <a:latin typeface="Hiragino Sans GB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53912" y="4434840"/>
            <a:ext cx="2542032" cy="1143000"/>
          </a:xfrm>
          <a:prstGeom prst="roundRect">
            <a:avLst/>
          </a:prstGeom>
          <a:solidFill>
            <a:srgbClr val="162E29"/>
          </a:solidFill>
          <a:ln w="10160">
            <a:solidFill>
              <a:srgbClr val="3E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53912" y="4617720"/>
            <a:ext cx="2542032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FFFFFF"/>
                </a:solidFill>
                <a:latin typeface="Hiragino Sans GB"/>
              </a:rPr>
              <a:t>PyPI 一键安装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3912" y="5193792"/>
            <a:ext cx="25420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>
                <a:solidFill>
                  <a:srgbClr val="C9ED88"/>
                </a:solidFill>
                <a:latin typeface="Hiragino Sans GB"/>
              </a:rPr>
              <a:t>MIT 开源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42248" y="4434840"/>
            <a:ext cx="2542032" cy="1143000"/>
          </a:xfrm>
          <a:prstGeom prst="roundRect">
            <a:avLst/>
          </a:prstGeom>
          <a:solidFill>
            <a:srgbClr val="162E29"/>
          </a:solidFill>
          <a:ln w="10160">
            <a:solidFill>
              <a:srgbClr val="3E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42248" y="4617720"/>
            <a:ext cx="2542032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>
                <a:solidFill>
                  <a:srgbClr val="FFFFFF"/>
                </a:solidFill>
                <a:latin typeface="Hiragino Sans GB"/>
              </a:rPr>
              <a:t>上海开源 AI 计划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42248" y="5193792"/>
            <a:ext cx="25420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 dirty="0">
                <a:solidFill>
                  <a:srgbClr val="C9ED88"/>
                </a:solidFill>
                <a:latin typeface="Hiragino Sans GB"/>
              </a:rPr>
              <a:t>2025 </a:t>
            </a:r>
            <a:r>
              <a:rPr sz="1100" b="0" dirty="0" err="1">
                <a:solidFill>
                  <a:srgbClr val="C9ED88"/>
                </a:solidFill>
                <a:latin typeface="Hiragino Sans GB"/>
              </a:rPr>
              <a:t>入选</a:t>
            </a:r>
            <a:endParaRPr sz="1100" b="0" dirty="0">
              <a:solidFill>
                <a:srgbClr val="C9ED88"/>
              </a:solidFill>
              <a:latin typeface="Hiragino Sans GB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95528" y="6035040"/>
            <a:ext cx="10424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dirty="0" err="1">
                <a:solidFill>
                  <a:srgbClr val="A0B4AE"/>
                </a:solidFill>
                <a:latin typeface="Hiragino Sans GB"/>
              </a:rPr>
              <a:t>github.com</a:t>
            </a:r>
            <a:r>
              <a:rPr sz="1200" b="0" dirty="0">
                <a:solidFill>
                  <a:srgbClr val="A0B4AE"/>
                </a:solidFill>
                <a:latin typeface="Hiragino Sans GB"/>
              </a:rPr>
              <a:t>/Bin-Cao/</a:t>
            </a:r>
            <a:r>
              <a:rPr sz="1200" b="0" dirty="0" err="1">
                <a:solidFill>
                  <a:srgbClr val="A0B4AE"/>
                </a:solidFill>
                <a:latin typeface="Hiragino Sans GB"/>
              </a:rPr>
              <a:t>Bgolearn</a:t>
            </a:r>
            <a:r>
              <a:rPr sz="1200" b="0" dirty="0">
                <a:solidFill>
                  <a:srgbClr val="A0B4AE"/>
                </a:solidFill>
                <a:latin typeface="Hiragino Sans GB"/>
              </a:rPr>
              <a:t>  ·  </a:t>
            </a:r>
            <a:r>
              <a:rPr sz="1200" b="0" dirty="0" err="1">
                <a:solidFill>
                  <a:srgbClr val="A0B4AE"/>
                </a:solidFill>
                <a:latin typeface="Hiragino Sans GB"/>
              </a:rPr>
              <a:t>bgolearn.netlify.app</a:t>
            </a:r>
            <a:endParaRPr sz="1200" b="0" dirty="0">
              <a:solidFill>
                <a:srgbClr val="A0B4AE"/>
              </a:solidFill>
              <a:latin typeface="Hiragino Sans GB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19456"/>
            <a:ext cx="82296" cy="566928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201168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0C705D"/>
                </a:solidFill>
                <a:latin typeface="Hiragino Sans GB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759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dirty="0" err="1">
                <a:solidFill>
                  <a:srgbClr val="172A27"/>
                </a:solidFill>
                <a:latin typeface="Songti SC"/>
              </a:rPr>
              <a:t>Bgolearn</a:t>
            </a:r>
            <a:r>
              <a:rPr sz="2400" b="1" dirty="0">
                <a:solidFill>
                  <a:srgbClr val="172A27"/>
                </a:solidFill>
                <a:latin typeface="Songti SC"/>
              </a:rPr>
              <a:t> </a:t>
            </a:r>
            <a:r>
              <a:rPr sz="2400" b="1" dirty="0" err="1">
                <a:solidFill>
                  <a:srgbClr val="172A27"/>
                </a:solidFill>
                <a:latin typeface="Songti SC"/>
              </a:rPr>
              <a:t>带来三件事</a:t>
            </a:r>
            <a:endParaRPr sz="2400" b="1" dirty="0">
              <a:solidFill>
                <a:srgbClr val="172A27"/>
              </a:solidFill>
              <a:latin typeface="Songti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686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61706C"/>
                </a:solidFill>
                <a:latin typeface="Hiragino Sans GB"/>
              </a:rPr>
              <a:t>Bgolearn · npj Computational Materials (2026) · github.com/Bin-Cao/Bgolearn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37376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61706C"/>
                </a:solidFill>
                <a:latin typeface="Hiragino Sans GB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3401568" cy="3657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554480"/>
            <a:ext cx="3401568" cy="128016"/>
          </a:xfrm>
          <a:prstGeom prst="rect">
            <a:avLst/>
          </a:prstGeom>
          <a:solidFill>
            <a:srgbClr val="0C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51560" y="1965960"/>
            <a:ext cx="777240" cy="777240"/>
          </a:xfrm>
          <a:prstGeom prst="ellipse">
            <a:avLst/>
          </a:prstGeom>
          <a:solidFill>
            <a:srgbClr val="0C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212848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600" b="1">
                <a:solidFill>
                  <a:srgbClr val="FFFFFF"/>
                </a:solidFill>
                <a:latin typeface="Hiragino Sans GB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017520"/>
            <a:ext cx="28346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72A27"/>
                </a:solidFill>
                <a:latin typeface="Hiragino Sans GB"/>
              </a:rPr>
              <a:t>更少的实验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2852928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172220"/>
                </a:solidFill>
                <a:latin typeface="Hiragino Sans GB"/>
              </a:rPr>
              <a:t>把有限的实验预算，花在最有价值的候选上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4434840"/>
            <a:ext cx="2834640" cy="10972"/>
          </a:xfrm>
          <a:prstGeom prst="rect">
            <a:avLst/>
          </a:prstGeom>
          <a:solidFill>
            <a:srgbClr val="D5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4572000"/>
            <a:ext cx="2852928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1706C"/>
                </a:solidFill>
                <a:latin typeface="Hiragino Sans GB"/>
              </a:rPr>
              <a:t>通常用几十轮实验就能覆盖上万个候选空间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1554480"/>
            <a:ext cx="3401568" cy="3657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79976" y="1554480"/>
            <a:ext cx="3401568" cy="128016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654296" y="1965960"/>
            <a:ext cx="777240" cy="777240"/>
          </a:xfrm>
          <a:prstGeom prst="ellipse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54296" y="2212848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600" b="1">
                <a:solidFill>
                  <a:srgbClr val="FFFFFF"/>
                </a:solidFill>
                <a:latin typeface="Hiragino Sans GB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3017520"/>
            <a:ext cx="28346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72A27"/>
                </a:solidFill>
                <a:latin typeface="Hiragino Sans GB"/>
              </a:rPr>
              <a:t>更稳的决策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4296" y="3611880"/>
            <a:ext cx="2852928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172220"/>
                </a:solidFill>
                <a:latin typeface="Hiragino Sans GB"/>
              </a:rPr>
              <a:t>不只给“最好的预测”，还给“有多大把握”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54296" y="4434840"/>
            <a:ext cx="2834640" cy="10972"/>
          </a:xfrm>
          <a:prstGeom prst="rect">
            <a:avLst/>
          </a:prstGeom>
          <a:solidFill>
            <a:srgbClr val="D5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54296" y="4572000"/>
            <a:ext cx="2852928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1706C"/>
                </a:solidFill>
                <a:latin typeface="Hiragino Sans GB"/>
              </a:rPr>
              <a:t>不确定性可视化，让每一次选择都有依据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82712" y="1554480"/>
            <a:ext cx="3401568" cy="3657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982712" y="1554480"/>
            <a:ext cx="3401568" cy="128016"/>
          </a:xfrm>
          <a:prstGeom prst="rect">
            <a:avLst/>
          </a:prstGeom>
          <a:solidFill>
            <a:srgbClr val="596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257032" y="1965960"/>
            <a:ext cx="777240" cy="777240"/>
          </a:xfrm>
          <a:prstGeom prst="ellipse">
            <a:avLst/>
          </a:prstGeom>
          <a:solidFill>
            <a:srgbClr val="596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57032" y="2212848"/>
            <a:ext cx="777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600" b="1">
                <a:solidFill>
                  <a:srgbClr val="FFFFFF"/>
                </a:solidFill>
                <a:latin typeface="Hiragino Sans GB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3017520"/>
            <a:ext cx="28346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72A27"/>
                </a:solidFill>
                <a:latin typeface="Hiragino Sans GB"/>
              </a:rPr>
              <a:t>更大的回报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2" y="3611880"/>
            <a:ext cx="2852928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>
                <a:solidFill>
                  <a:srgbClr val="172220"/>
                </a:solidFill>
                <a:latin typeface="Hiragino Sans GB"/>
              </a:rPr>
              <a:t>实验数据越滚越多，模型越用越准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57032" y="4434840"/>
            <a:ext cx="2834640" cy="10972"/>
          </a:xfrm>
          <a:prstGeom prst="rect">
            <a:avLst/>
          </a:prstGeom>
          <a:solidFill>
            <a:srgbClr val="D5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57032" y="4572000"/>
            <a:ext cx="2852928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1706C"/>
                </a:solidFill>
                <a:latin typeface="Hiragino Sans GB"/>
              </a:rPr>
              <a:t>从单次优化，升级为持续进化的研发流程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486400"/>
            <a:ext cx="10607040" cy="777240"/>
          </a:xfrm>
          <a:prstGeom prst="roundRect">
            <a:avLst/>
          </a:prstGeom>
          <a:solidFill>
            <a:srgbClr val="F4F7F5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77240" y="5486400"/>
            <a:ext cx="73152" cy="777240"/>
          </a:xfrm>
          <a:prstGeom prst="rect">
            <a:avLst/>
          </a:prstGeom>
          <a:solidFill>
            <a:srgbClr val="0C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96695" y="5614416"/>
            <a:ext cx="1022299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0C705D"/>
                </a:solidFill>
                <a:latin typeface="Hiragino Sans GB"/>
              </a:rPr>
              <a:t>一句话定位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5" y="5961888"/>
            <a:ext cx="10222992" cy="1920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172220"/>
                </a:solidFill>
                <a:latin typeface="Hiragino Sans GB"/>
              </a:rPr>
              <a:t>Bgolearn 是「材料研发的实验推荐系统」：它不替你烧窑，但替你决定下一步烧哪个。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19456"/>
            <a:ext cx="82296" cy="566928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201168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0C705D"/>
                </a:solidFill>
                <a:latin typeface="Hiragino Sans GB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359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dirty="0" err="1">
                <a:solidFill>
                  <a:srgbClr val="172A27"/>
                </a:solidFill>
                <a:latin typeface="Songti SC"/>
              </a:rPr>
              <a:t>材料研发的根本瓶颈</a:t>
            </a:r>
            <a:endParaRPr sz="2400" b="1" dirty="0">
              <a:solidFill>
                <a:srgbClr val="172A27"/>
              </a:solidFill>
              <a:latin typeface="Songti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686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61706C"/>
                </a:solidFill>
                <a:latin typeface="Hiragino Sans GB"/>
              </a:rPr>
              <a:t>Bgolearn · npj Computational Materials (2026) · github.com/Bin-Cao/Bgolearn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37376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61706C"/>
                </a:solidFill>
                <a:latin typeface="Hiragino Sans GB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1060704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554480"/>
            <a:ext cx="82296" cy="1097280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700784"/>
            <a:ext cx="27432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>
                <a:solidFill>
                  <a:srgbClr val="172A27"/>
                </a:solidFill>
                <a:latin typeface="Hiragino Sans GB"/>
              </a:rPr>
              <a:t>候选空间巨大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810512"/>
            <a:ext cx="49377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172220"/>
                </a:solidFill>
                <a:latin typeface="Hiragino Sans GB"/>
              </a:rPr>
              <a:t>成分、工艺、参数自由组合，候选可达十万级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1874519"/>
            <a:ext cx="17373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E97841"/>
                </a:solidFill>
                <a:latin typeface="Hiragino Sans GB"/>
              </a:rPr>
              <a:t>穷举不可行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70632"/>
            <a:ext cx="1060704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2770632"/>
            <a:ext cx="82296" cy="1097280"/>
          </a:xfrm>
          <a:prstGeom prst="rect">
            <a:avLst/>
          </a:prstGeom>
          <a:solidFill>
            <a:srgbClr val="159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2916936"/>
            <a:ext cx="27432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>
                <a:solidFill>
                  <a:srgbClr val="172A27"/>
                </a:solidFill>
                <a:latin typeface="Hiragino Sans GB"/>
              </a:rPr>
              <a:t>实验成本高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026664"/>
            <a:ext cx="49377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172220"/>
                </a:solidFill>
                <a:latin typeface="Hiragino Sans GB"/>
              </a:rPr>
              <a:t>制样、表征、测试耗时耗钱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090672"/>
            <a:ext cx="17373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159477"/>
                </a:solidFill>
                <a:latin typeface="Hiragino Sans GB"/>
              </a:rPr>
              <a:t>试错代价大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1060704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82296" cy="1097280"/>
          </a:xfrm>
          <a:prstGeom prst="rect">
            <a:avLst/>
          </a:prstGeom>
          <a:solidFill>
            <a:srgbClr val="596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133088"/>
            <a:ext cx="27432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>
                <a:solidFill>
                  <a:srgbClr val="172A27"/>
                </a:solidFill>
                <a:latin typeface="Hiragino Sans GB"/>
              </a:rPr>
              <a:t>性能互相制约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242816"/>
            <a:ext cx="49377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172220"/>
                </a:solidFill>
                <a:latin typeface="Hiragino Sans GB"/>
              </a:rPr>
              <a:t>多个目标常常此消彼长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306824"/>
            <a:ext cx="17373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596BB3"/>
                </a:solidFill>
                <a:latin typeface="Hiragino Sans GB"/>
              </a:rPr>
              <a:t>顾此失彼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349240"/>
            <a:ext cx="10607040" cy="777240"/>
          </a:xfrm>
          <a:prstGeom prst="roundRect">
            <a:avLst/>
          </a:prstGeom>
          <a:solidFill>
            <a:srgbClr val="F4F7F5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" y="5349240"/>
            <a:ext cx="73152" cy="777240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6695" y="5477255"/>
            <a:ext cx="1022299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E97841"/>
                </a:solidFill>
                <a:latin typeface="Hiragino Sans GB"/>
              </a:rPr>
              <a:t>本质问题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5" y="5824727"/>
            <a:ext cx="10222992" cy="1920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172220"/>
                </a:solidFill>
                <a:latin typeface="Hiragino Sans GB"/>
              </a:rPr>
              <a:t>不是没有候选，而是「下一步该试谁」难决定——这个决定，可以用数据智能来做。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19456"/>
            <a:ext cx="82296" cy="566928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201168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0C705D"/>
                </a:solidFill>
                <a:latin typeface="Hiragino Sans GB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6826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dirty="0" err="1">
                <a:solidFill>
                  <a:srgbClr val="172A27"/>
                </a:solidFill>
                <a:latin typeface="Songti SC"/>
              </a:rPr>
              <a:t>贝叶斯优化：越试越聪明的「师傅</a:t>
            </a:r>
            <a:r>
              <a:rPr sz="2400" b="1" dirty="0">
                <a:solidFill>
                  <a:srgbClr val="172A27"/>
                </a:solidFill>
                <a:latin typeface="Songti SC"/>
              </a:rPr>
              <a:t>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686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61706C"/>
                </a:solidFill>
                <a:latin typeface="Hiragino Sans GB"/>
              </a:rPr>
              <a:t>Bgolearn · npj Computational Materials (2026) · github.com/Bin-Cao/Bgolearn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37376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61706C"/>
                </a:solidFill>
                <a:latin typeface="Hiragino Sans GB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058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61706C"/>
                </a:solidFill>
                <a:latin typeface="Hiragino Sans GB"/>
              </a:rPr>
              <a:t>不必懂公式，记住两个词：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0584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0C705D"/>
                </a:solidFill>
                <a:latin typeface="Hiragino Sans GB"/>
              </a:rPr>
              <a:t>预测性能 + 量化不确定性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06040"/>
            <a:ext cx="5120640" cy="2880360"/>
          </a:xfrm>
          <a:prstGeom prst="roundRect">
            <a:avLst/>
          </a:prstGeom>
          <a:solidFill>
            <a:srgbClr val="F4F7F5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606040"/>
            <a:ext cx="82296" cy="2880360"/>
          </a:xfrm>
          <a:prstGeom prst="rect">
            <a:avLst/>
          </a:prstGeom>
          <a:solidFill>
            <a:srgbClr val="0C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788920"/>
            <a:ext cx="45720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>
                <a:solidFill>
                  <a:srgbClr val="172A27"/>
                </a:solidFill>
                <a:latin typeface="Hiragino Sans GB"/>
              </a:rPr>
              <a:t>①  预测性能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91840"/>
            <a:ext cx="448056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72220"/>
                </a:solidFill>
                <a:latin typeface="Hiragino Sans GB"/>
              </a:rPr>
              <a:t>根据已有实验数据，估算每个新候选「大概能做到什么水平」。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97680"/>
            <a:ext cx="4480560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61706C"/>
                </a:solidFill>
                <a:latin typeface="Hiragino Sans GB"/>
              </a:rPr>
              <a:t>例子：已有 30 组数据，能估计第 31 种配方的目标性能约为多少。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606040"/>
            <a:ext cx="5120640" cy="2880360"/>
          </a:xfrm>
          <a:prstGeom prst="roundRect">
            <a:avLst/>
          </a:prstGeom>
          <a:solidFill>
            <a:srgbClr val="F4F7F5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2606040"/>
            <a:ext cx="82296" cy="2880360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2788920"/>
            <a:ext cx="45720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>
                <a:solidFill>
                  <a:srgbClr val="172A27"/>
                </a:solidFill>
                <a:latin typeface="Hiragino Sans GB"/>
              </a:rPr>
              <a:t>②  量化不确定性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91840"/>
            <a:ext cx="448056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72220"/>
                </a:solidFill>
                <a:latin typeface="Hiragino Sans GB"/>
              </a:rPr>
              <a:t>同时告诉你「这个预测我有多大把握」。没把握的地方，恰恰最值得做实验。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297680"/>
            <a:ext cx="4480560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61706C"/>
                </a:solidFill>
                <a:latin typeface="Hiragino Sans GB"/>
              </a:rPr>
              <a:t>例子：某个区域从没试过，预测一般，但「没试过」本身就是价值。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660136"/>
            <a:ext cx="10607040" cy="777240"/>
          </a:xfrm>
          <a:prstGeom prst="roundRect">
            <a:avLst/>
          </a:prstGeom>
          <a:solidFill>
            <a:srgbClr val="F4F7F5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5660136"/>
            <a:ext cx="73152" cy="777240"/>
          </a:xfrm>
          <a:prstGeom prst="rect">
            <a:avLst/>
          </a:prstGeom>
          <a:solidFill>
            <a:srgbClr val="159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6695" y="5788152"/>
            <a:ext cx="1022299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dirty="0" err="1">
                <a:solidFill>
                  <a:srgbClr val="159477"/>
                </a:solidFill>
                <a:latin typeface="Hiragino Sans GB"/>
              </a:rPr>
              <a:t>一句话总结</a:t>
            </a:r>
            <a:endParaRPr sz="1500" b="1" dirty="0">
              <a:solidFill>
                <a:srgbClr val="159477"/>
              </a:solidFill>
              <a:latin typeface="Hiragino Sans GB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96695" y="6135624"/>
            <a:ext cx="10222992" cy="1920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172220"/>
                </a:solidFill>
                <a:latin typeface="Hiragino Sans GB"/>
              </a:rPr>
              <a:t>在「已知好的区域继续挖」和「没试过的地方去探索」之间，每次都选最划算的一步。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19456"/>
            <a:ext cx="82296" cy="566928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201168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0C705D"/>
                </a:solidFill>
                <a:latin typeface="Hiragino Sans GB"/>
              </a:rPr>
              <a:t>METHOD · SURROGATE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759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dirty="0" err="1">
                <a:solidFill>
                  <a:srgbClr val="172A27"/>
                </a:solidFill>
                <a:latin typeface="Songti SC"/>
              </a:rPr>
              <a:t>代理模型：一边预测，一边告诉你「我多没把握</a:t>
            </a:r>
            <a:r>
              <a:rPr sz="2400" b="1" dirty="0">
                <a:solidFill>
                  <a:srgbClr val="172A27"/>
                </a:solidFill>
                <a:latin typeface="Songti SC"/>
              </a:rPr>
              <a:t>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37376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61706C"/>
                </a:solidFill>
                <a:latin typeface="Hiragino Sans GB"/>
              </a:rPr>
              <a:t>05</a:t>
            </a:r>
          </a:p>
        </p:txBody>
      </p:sp>
      <p:pic>
        <p:nvPicPr>
          <p:cNvPr id="7" name="Picture 6" descr="surro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10" y="1371600"/>
            <a:ext cx="6653658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463040"/>
            <a:ext cx="3794760" cy="4480560"/>
          </a:xfrm>
          <a:prstGeom prst="roundRect">
            <a:avLst/>
          </a:prstGeom>
          <a:solidFill>
            <a:srgbClr val="F4F7F5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26679" y="1463040"/>
            <a:ext cx="82296" cy="4480560"/>
          </a:xfrm>
          <a:prstGeom prst="rect">
            <a:avLst/>
          </a:prstGeom>
          <a:solidFill>
            <a:srgbClr val="0C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1000" y="1737360"/>
            <a:ext cx="32918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0C705D"/>
                </a:solidFill>
                <a:latin typeface="Hiragino Sans GB"/>
              </a:rPr>
              <a:t>怎么读这张图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240280"/>
            <a:ext cx="3246120" cy="1828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172220"/>
                </a:solidFill>
                <a:latin typeface="Hiragino Sans GB"/>
              </a:rPr>
              <a:t>• 橙色点：已有实验数据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172220"/>
                </a:solidFill>
                <a:latin typeface="Hiragino Sans GB"/>
              </a:rPr>
              <a:t>• 绿色实线：模型预测性能 μ(x)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172220"/>
                </a:solidFill>
                <a:latin typeface="Hiragino Sans GB"/>
              </a:rPr>
              <a:t>• 绿色阴影带：不确定性 σ(x)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172220"/>
                </a:solidFill>
                <a:latin typeface="Hiragino Sans GB"/>
              </a:rPr>
              <a:t>• 带越宽 → 越没把握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72220"/>
                </a:solidFill>
                <a:latin typeface="Hiragino Sans GB"/>
              </a:rPr>
              <a:t>• 系统推荐：不确定性最高处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4206240"/>
            <a:ext cx="3246120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596BB3"/>
                </a:solidFill>
                <a:latin typeface="Hiragino Sans GB"/>
              </a:rPr>
              <a:t>既有「预测」，又有「把握程度」——这是贝叶斯优化区别于普通回归的核心。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480" y="6108192"/>
            <a:ext cx="10607040" cy="548640"/>
          </a:xfrm>
          <a:prstGeom prst="roundRect">
            <a:avLst/>
          </a:prstGeom>
          <a:solidFill>
            <a:srgbClr val="F4F7F5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2480" y="6108192"/>
            <a:ext cx="73152" cy="548640"/>
          </a:xfrm>
          <a:prstGeom prst="rect">
            <a:avLst/>
          </a:prstGeom>
          <a:solidFill>
            <a:srgbClr val="0C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11935" y="6236208"/>
            <a:ext cx="1022299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0C705D"/>
                </a:solidFill>
                <a:latin typeface="Hiragino Sans GB"/>
              </a:rPr>
              <a:t>记住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6261946"/>
            <a:ext cx="10222992" cy="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dirty="0" err="1">
                <a:solidFill>
                  <a:srgbClr val="172220"/>
                </a:solidFill>
                <a:latin typeface="Hiragino Sans GB"/>
              </a:rPr>
              <a:t>不确定性不是缺点，它是「下一步该去哪探索」的导航</a:t>
            </a:r>
            <a:r>
              <a:rPr sz="1500" b="0" dirty="0">
                <a:solidFill>
                  <a:srgbClr val="172220"/>
                </a:solidFill>
                <a:latin typeface="Hiragino Sans GB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19456"/>
            <a:ext cx="82296" cy="566928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201168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0C705D"/>
                </a:solidFill>
                <a:latin typeface="Hiragino Sans GB"/>
              </a:rPr>
              <a:t>METHOD · 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759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dirty="0" err="1">
                <a:solidFill>
                  <a:srgbClr val="172A27"/>
                </a:solidFill>
                <a:latin typeface="Songti SC"/>
              </a:rPr>
              <a:t>采集函数：把「期望提升」和「不确定性」变成推荐</a:t>
            </a:r>
            <a:endParaRPr sz="2400" b="1" dirty="0">
              <a:solidFill>
                <a:srgbClr val="172A27"/>
              </a:solidFill>
              <a:latin typeface="Songti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37376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61706C"/>
                </a:solidFill>
                <a:latin typeface="Hiragino Sans GB"/>
              </a:rPr>
              <a:t>06</a:t>
            </a:r>
          </a:p>
        </p:txBody>
      </p:sp>
      <p:pic>
        <p:nvPicPr>
          <p:cNvPr id="7" name="Picture 6" descr="acqui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95" y="1371600"/>
            <a:ext cx="6066088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463040"/>
            <a:ext cx="3794760" cy="4480560"/>
          </a:xfrm>
          <a:prstGeom prst="roundRect">
            <a:avLst/>
          </a:prstGeom>
          <a:solidFill>
            <a:srgbClr val="F4F7F5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26679" y="1463040"/>
            <a:ext cx="82296" cy="4480560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1000" y="1737360"/>
            <a:ext cx="32918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E97841"/>
                </a:solidFill>
                <a:latin typeface="Hiragino Sans GB"/>
              </a:rPr>
              <a:t>怎么读这张图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240280"/>
            <a:ext cx="3246120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50" b="0">
                <a:solidFill>
                  <a:srgbClr val="172220"/>
                </a:solidFill>
                <a:latin typeface="Hiragino Sans GB"/>
              </a:rPr>
              <a:t>• 上图：预测与不确定性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172220"/>
                </a:solidFill>
                <a:latin typeface="Hiragino Sans GB"/>
              </a:rPr>
              <a:t>• 下图：每个候选的推荐分数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172220"/>
                </a:solidFill>
                <a:latin typeface="Hiragino Sans GB"/>
              </a:rPr>
              <a:t>• 分数 = 可能提升 + 探索价值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172220"/>
                </a:solidFill>
                <a:latin typeface="Hiragino Sans GB"/>
              </a:rPr>
              <a:t>• 分数最高处 → 下一组实验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4069080"/>
            <a:ext cx="3246120" cy="1371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596BB3"/>
                </a:solidFill>
                <a:latin typeface="Hiragino Sans GB"/>
              </a:rPr>
              <a:t>这就是「探索 × 利用」的自动平衡：系统替你算好每一步的性价比。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6172200"/>
            <a:ext cx="10607040" cy="548640"/>
          </a:xfrm>
          <a:prstGeom prst="roundRect">
            <a:avLst/>
          </a:prstGeom>
          <a:solidFill>
            <a:srgbClr val="F4F7F5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6172200"/>
            <a:ext cx="73152" cy="548640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96695" y="6300216"/>
            <a:ext cx="1022299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E97841"/>
                </a:solidFill>
                <a:latin typeface="Hiragino Sans GB"/>
              </a:rPr>
              <a:t>记住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9295" y="6318504"/>
            <a:ext cx="10222992" cy="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dirty="0" err="1">
                <a:solidFill>
                  <a:srgbClr val="172220"/>
                </a:solidFill>
                <a:latin typeface="Hiragino Sans GB"/>
              </a:rPr>
              <a:t>用户不需要理解公式</a:t>
            </a:r>
            <a:r>
              <a:rPr sz="1500" b="0" dirty="0">
                <a:solidFill>
                  <a:srgbClr val="172220"/>
                </a:solidFill>
                <a:latin typeface="Hiragino Sans GB"/>
              </a:rPr>
              <a:t>——</a:t>
            </a:r>
            <a:r>
              <a:rPr sz="1500" b="0" dirty="0" err="1">
                <a:solidFill>
                  <a:srgbClr val="172220"/>
                </a:solidFill>
                <a:latin typeface="Hiragino Sans GB"/>
              </a:rPr>
              <a:t>把「采集函数」理解成一个会自动打分的推荐引擎</a:t>
            </a:r>
            <a:r>
              <a:rPr sz="1500" b="0" dirty="0">
                <a:solidFill>
                  <a:srgbClr val="172220"/>
                </a:solidFill>
                <a:latin typeface="Hiragino Sans GB"/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19456"/>
            <a:ext cx="82296" cy="566928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201168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0C705D"/>
                </a:solidFill>
                <a:latin typeface="Hiragino Sans GB"/>
              </a:rPr>
              <a:t>METHOD ·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759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72A27"/>
                </a:solidFill>
                <a:latin typeface="Songti SC"/>
              </a:rPr>
              <a:t>五步闭环：每做一次实验，系统就聪明一点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686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61706C"/>
                </a:solidFill>
                <a:latin typeface="Hiragino Sans GB"/>
              </a:rPr>
              <a:t>Bgolearn · npj Computational Materials (2026) · github.com/Bin-Cao/Bgolearn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37376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61706C"/>
                </a:solidFill>
                <a:latin typeface="Hiragino Sans GB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2084831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645920"/>
            <a:ext cx="2084831" cy="91440"/>
          </a:xfrm>
          <a:prstGeom prst="rect">
            <a:avLst/>
          </a:prstGeom>
          <a:solidFill>
            <a:srgbClr val="0C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527048" y="1920240"/>
            <a:ext cx="548640" cy="548640"/>
          </a:xfrm>
          <a:prstGeom prst="ellipse">
            <a:avLst/>
          </a:prstGeom>
          <a:solidFill>
            <a:srgbClr val="0C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27048" y="2039112"/>
            <a:ext cx="548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100" b="1">
                <a:solidFill>
                  <a:srgbClr val="FFFFFF"/>
                </a:solidFill>
                <a:latin typeface="Hiragino Sans GB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51760"/>
            <a:ext cx="2084831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172A27"/>
                </a:solidFill>
                <a:latin typeface="Hiragino Sans GB"/>
              </a:rPr>
              <a:t>已有实验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1810511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1706C"/>
                </a:solidFill>
                <a:latin typeface="Hiragino Sans GB"/>
              </a:rPr>
              <a:t>整理已有数据与结果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43784" y="2788920"/>
            <a:ext cx="146304" cy="0"/>
          </a:xfrm>
          <a:prstGeom prst="line">
            <a:avLst/>
          </a:prstGeom>
          <a:ln w="25400">
            <a:solidFill>
              <a:srgbClr val="0C70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90088" y="1645920"/>
            <a:ext cx="2084831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990088" y="1645920"/>
            <a:ext cx="2084831" cy="91440"/>
          </a:xfrm>
          <a:prstGeom prst="rect">
            <a:avLst/>
          </a:prstGeom>
          <a:solidFill>
            <a:srgbClr val="159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739896" y="1920240"/>
            <a:ext cx="548640" cy="548640"/>
          </a:xfrm>
          <a:prstGeom prst="ellipse">
            <a:avLst/>
          </a:prstGeom>
          <a:solidFill>
            <a:srgbClr val="159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39896" y="2039112"/>
            <a:ext cx="548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100" b="1">
                <a:solidFill>
                  <a:srgbClr val="FFFFFF"/>
                </a:solidFill>
                <a:latin typeface="Hiragino Sans GB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0088" y="2651760"/>
            <a:ext cx="2084831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172A27"/>
                </a:solidFill>
                <a:latin typeface="Hiragino Sans GB"/>
              </a:rPr>
              <a:t>代理建模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3108960"/>
            <a:ext cx="1810511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1706C"/>
                </a:solidFill>
                <a:latin typeface="Hiragino Sans GB"/>
              </a:rPr>
              <a:t>学习「输入→性能」规律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56632" y="2788920"/>
            <a:ext cx="146304" cy="0"/>
          </a:xfrm>
          <a:prstGeom prst="line">
            <a:avLst/>
          </a:prstGeom>
          <a:ln w="25400">
            <a:solidFill>
              <a:srgbClr val="0C70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202936" y="1645920"/>
            <a:ext cx="2084831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202936" y="1645920"/>
            <a:ext cx="2084831" cy="91440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52744" y="1920240"/>
            <a:ext cx="548640" cy="548640"/>
          </a:xfrm>
          <a:prstGeom prst="ellipse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52744" y="2039112"/>
            <a:ext cx="548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100" b="1">
                <a:solidFill>
                  <a:srgbClr val="FFFFFF"/>
                </a:solidFill>
                <a:latin typeface="Hiragino Sans GB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2936" y="2651760"/>
            <a:ext cx="2084831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172A27"/>
                </a:solidFill>
                <a:latin typeface="Hiragino Sans GB"/>
              </a:rPr>
              <a:t>候选评估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0096" y="3108960"/>
            <a:ext cx="1810511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1706C"/>
                </a:solidFill>
                <a:latin typeface="Hiragino Sans GB"/>
              </a:rPr>
              <a:t>给全部候选打分排序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269479" y="2788920"/>
            <a:ext cx="146304" cy="0"/>
          </a:xfrm>
          <a:prstGeom prst="line">
            <a:avLst/>
          </a:prstGeom>
          <a:ln w="25400">
            <a:solidFill>
              <a:srgbClr val="0C70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415783" y="1645920"/>
            <a:ext cx="2084831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15783" y="1645920"/>
            <a:ext cx="2084831" cy="91440"/>
          </a:xfrm>
          <a:prstGeom prst="rect">
            <a:avLst/>
          </a:prstGeom>
          <a:solidFill>
            <a:srgbClr val="596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165592" y="1920240"/>
            <a:ext cx="548640" cy="548640"/>
          </a:xfrm>
          <a:prstGeom prst="ellipse">
            <a:avLst/>
          </a:prstGeom>
          <a:solidFill>
            <a:srgbClr val="596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65592" y="2039112"/>
            <a:ext cx="548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100" b="1">
                <a:solidFill>
                  <a:srgbClr val="FFFFFF"/>
                </a:solidFill>
                <a:latin typeface="Hiragino Sans GB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15783" y="2651760"/>
            <a:ext cx="2084831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172A27"/>
                </a:solidFill>
                <a:latin typeface="Hiragino Sans GB"/>
              </a:rPr>
              <a:t>智能推荐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52944" y="3108960"/>
            <a:ext cx="1810511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1706C"/>
                </a:solidFill>
                <a:latin typeface="Hiragino Sans GB"/>
              </a:rPr>
              <a:t>挑最值得做的下一组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482328" y="2788920"/>
            <a:ext cx="146304" cy="0"/>
          </a:xfrm>
          <a:prstGeom prst="line">
            <a:avLst/>
          </a:prstGeom>
          <a:ln w="25400">
            <a:solidFill>
              <a:srgbClr val="0C70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628632" y="1645920"/>
            <a:ext cx="2084831" cy="22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628632" y="1645920"/>
            <a:ext cx="2084831" cy="91440"/>
          </a:xfrm>
          <a:prstGeom prst="rect">
            <a:avLst/>
          </a:prstGeom>
          <a:solidFill>
            <a:srgbClr val="0C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378440" y="1920240"/>
            <a:ext cx="548640" cy="548640"/>
          </a:xfrm>
          <a:prstGeom prst="ellipse">
            <a:avLst/>
          </a:prstGeom>
          <a:solidFill>
            <a:srgbClr val="0C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378440" y="2039112"/>
            <a:ext cx="548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100" b="1">
                <a:solidFill>
                  <a:srgbClr val="FFFFFF"/>
                </a:solidFill>
                <a:latin typeface="Hiragino Sans GB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28632" y="2651760"/>
            <a:ext cx="2084831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172A27"/>
                </a:solidFill>
                <a:latin typeface="Hiragino Sans GB"/>
              </a:rPr>
              <a:t>反馈更新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65792" y="3108960"/>
            <a:ext cx="1810511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1706C"/>
                </a:solidFill>
                <a:latin typeface="Hiragino Sans GB"/>
              </a:rPr>
              <a:t>新结果回填，重新学习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4343400"/>
            <a:ext cx="10607040" cy="777240"/>
          </a:xfrm>
          <a:prstGeom prst="roundRect">
            <a:avLst/>
          </a:prstGeom>
          <a:solidFill>
            <a:srgbClr val="F4F7F5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77240" y="4343400"/>
            <a:ext cx="73152" cy="777240"/>
          </a:xfrm>
          <a:prstGeom prst="rect">
            <a:avLst/>
          </a:prstGeom>
          <a:solidFill>
            <a:srgbClr val="0C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96695" y="4471416"/>
            <a:ext cx="1022299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0C705D"/>
                </a:solidFill>
                <a:latin typeface="Hiragino Sans GB"/>
              </a:rPr>
              <a:t>关键点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5" y="4818888"/>
            <a:ext cx="10222992" cy="1920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>
                <a:solidFill>
                  <a:srgbClr val="172220"/>
                </a:solidFill>
                <a:latin typeface="Hiragino Sans GB"/>
              </a:rPr>
              <a:t>第 1、5 步发生在实验台，第 2、3、4 步由软件完成。数据越多 → 推荐越准 → 实验越省。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5440680"/>
            <a:ext cx="10607040" cy="777240"/>
          </a:xfrm>
          <a:prstGeom prst="roundRect">
            <a:avLst/>
          </a:prstGeom>
          <a:solidFill>
            <a:srgbClr val="F4F7F5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77240" y="5440680"/>
            <a:ext cx="82296" cy="777240"/>
          </a:xfrm>
          <a:prstGeom prst="rect">
            <a:avLst/>
          </a:prstGeom>
          <a:solidFill>
            <a:srgbClr val="596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51560" y="5623560"/>
            <a:ext cx="18288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596BB3"/>
                </a:solidFill>
                <a:latin typeface="Hiragino Sans GB"/>
              </a:rPr>
              <a:t>术语小抄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17520" y="5669280"/>
            <a:ext cx="81381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172220"/>
                </a:solidFill>
                <a:latin typeface="Hiragino Sans GB"/>
              </a:rPr>
              <a:t>代理模型 = 学会规律的「师傅」  |  采集函数 = 给候选打分的「决策器」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19456"/>
            <a:ext cx="82296" cy="566928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201168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0C705D"/>
                </a:solidFill>
                <a:latin typeface="Hiragino Sans GB"/>
              </a:rPr>
              <a:t>METHOD · OFFICIAL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7590" y="475488"/>
            <a:ext cx="10972800" cy="462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dirty="0" err="1">
                <a:solidFill>
                  <a:srgbClr val="172A27"/>
                </a:solidFill>
                <a:latin typeface="Songti SC"/>
              </a:rPr>
              <a:t>工作流：从数据到推荐的完整图景</a:t>
            </a:r>
            <a:endParaRPr sz="2400" b="1" dirty="0">
              <a:solidFill>
                <a:srgbClr val="172A27"/>
              </a:solidFill>
              <a:latin typeface="Songti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686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61706C"/>
                </a:solidFill>
                <a:latin typeface="Hiragino Sans GB"/>
              </a:rPr>
              <a:t>Bgolearn · npj Computational Materials (2026) · github.com/Bin-Cao/Bgolearn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37376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61706C"/>
                </a:solidFill>
                <a:latin typeface="Hiragino Sans GB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6675120" cy="4846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169" y="1508760"/>
            <a:ext cx="3996941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26679" y="1463040"/>
            <a:ext cx="3794760" cy="4480560"/>
          </a:xfrm>
          <a:prstGeom prst="roundRect">
            <a:avLst/>
          </a:prstGeom>
          <a:solidFill>
            <a:srgbClr val="F4F7F5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26679" y="1463040"/>
            <a:ext cx="82296" cy="4480560"/>
          </a:xfrm>
          <a:prstGeom prst="rect">
            <a:avLst/>
          </a:prstGeom>
          <a:solidFill>
            <a:srgbClr val="159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01000" y="1737360"/>
            <a:ext cx="32918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59477"/>
                </a:solidFill>
                <a:latin typeface="Hiragino Sans GB"/>
              </a:rPr>
              <a:t>官方示意图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240280"/>
            <a:ext cx="3246120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72220"/>
                </a:solidFill>
                <a:latin typeface="Hiragino Sans GB"/>
              </a:rPr>
              <a:t>图中展示了 Bgolearn 把「数据 → 模型 → 推荐」串成统一流程的整体设计。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3291840"/>
            <a:ext cx="3246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72A27"/>
                </a:solidFill>
                <a:latin typeface="Hiragino Sans GB"/>
              </a:rPr>
              <a:t>一个框架统一了：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703320"/>
            <a:ext cx="3246120" cy="1463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72220"/>
                </a:solidFill>
                <a:latin typeface="Hiragino Sans GB"/>
              </a:rPr>
              <a:t>• 回归与分类任务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72220"/>
                </a:solidFill>
                <a:latin typeface="Hiragino Sans GB"/>
              </a:rPr>
              <a:t>• 主动学习与虚拟筛选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72220"/>
                </a:solidFill>
                <a:latin typeface="Hiragino Sans GB"/>
              </a:rPr>
              <a:t>• 单目标与多目标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72220"/>
                </a:solidFill>
                <a:latin typeface="Hiragino Sans GB"/>
              </a:rPr>
              <a:t>• 噪声与非噪声场景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19456"/>
            <a:ext cx="82296" cy="566928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201168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0C705D"/>
                </a:solidFill>
                <a:latin typeface="Hiragino Sans GB"/>
              </a:rPr>
              <a:t>BGOLEARN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759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dirty="0" err="1">
                <a:solidFill>
                  <a:srgbClr val="172A27"/>
                </a:solidFill>
                <a:latin typeface="Songti SC"/>
              </a:rPr>
              <a:t>Bgolearn：把贝叶斯优化做成开箱即用的软件</a:t>
            </a:r>
            <a:endParaRPr sz="2400" b="1" dirty="0">
              <a:solidFill>
                <a:srgbClr val="172A27"/>
              </a:solidFill>
              <a:latin typeface="Songti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686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61706C"/>
                </a:solidFill>
                <a:latin typeface="Hiragino Sans GB"/>
              </a:rPr>
              <a:t>Bgolearn · npj Computational Materials (2026) · github.com/Bin-Cao/Bgolearn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37376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61706C"/>
                </a:solidFill>
                <a:latin typeface="Hiragino Sans GB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63040"/>
            <a:ext cx="10607040" cy="1280160"/>
          </a:xfrm>
          <a:prstGeom prst="roundRect">
            <a:avLst/>
          </a:prstGeom>
          <a:solidFill>
            <a:srgbClr val="0C1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664208"/>
            <a:ext cx="100584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FFFF"/>
                </a:solidFill>
                <a:latin typeface="Songti SC"/>
              </a:rPr>
              <a:t>「Bgolearn 是一个面向材料发现的统一贝叶斯优化框架。」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67712"/>
            <a:ext cx="100584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C9ED88"/>
                </a:solidFill>
                <a:latin typeface="Hiragino Sans GB"/>
              </a:rPr>
              <a:t>白话版：一套软件。喂它已有数据，它帮你算下一组最值得做的实验。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17520"/>
            <a:ext cx="7315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72A27"/>
                </a:solidFill>
                <a:latin typeface="Hiragino Sans GB"/>
              </a:rPr>
              <a:t>为什么值得信任？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474720"/>
            <a:ext cx="10607040" cy="749808"/>
          </a:xfrm>
          <a:prstGeom prst="roundRect">
            <a:avLst/>
          </a:prstGeom>
          <a:solidFill>
            <a:srgbClr val="F4F7F5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1417320" cy="749808"/>
          </a:xfrm>
          <a:prstGeom prst="rect">
            <a:avLst/>
          </a:prstGeom>
          <a:solidFill>
            <a:srgbClr val="0C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694176"/>
            <a:ext cx="1417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Hiragino Sans GB"/>
              </a:rPr>
              <a:t>论文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3657600"/>
            <a:ext cx="868680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172220"/>
                </a:solidFill>
                <a:latin typeface="Hiragino Sans GB"/>
              </a:rPr>
              <a:t>正式发表于 npj Computational Materials（2026）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343400"/>
            <a:ext cx="10607040" cy="749808"/>
          </a:xfrm>
          <a:prstGeom prst="roundRect">
            <a:avLst/>
          </a:prstGeom>
          <a:solidFill>
            <a:srgbClr val="F4F7F5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4343400"/>
            <a:ext cx="1417320" cy="749808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562856"/>
            <a:ext cx="1417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Hiragino Sans GB"/>
              </a:rPr>
              <a:t>教材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4526280"/>
            <a:ext cx="868680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172220"/>
                </a:solidFill>
                <a:latin typeface="Hiragino Sans GB"/>
              </a:rPr>
              <a:t>中科院院士张统一 Springer 教材第 1 章采用实现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212080"/>
            <a:ext cx="10607040" cy="749808"/>
          </a:xfrm>
          <a:prstGeom prst="roundRect">
            <a:avLst/>
          </a:prstGeom>
          <a:solidFill>
            <a:srgbClr val="F4F7F5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5212080"/>
            <a:ext cx="1417320" cy="749808"/>
          </a:xfrm>
          <a:prstGeom prst="rect">
            <a:avLst/>
          </a:prstGeom>
          <a:solidFill>
            <a:srgbClr val="596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431536"/>
            <a:ext cx="1417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FFFFFF"/>
                </a:solidFill>
                <a:latin typeface="Hiragino Sans GB"/>
              </a:rPr>
              <a:t>基金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5394960"/>
            <a:ext cx="868680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172220"/>
                </a:solidFill>
                <a:latin typeface="Hiragino Sans GB"/>
              </a:rPr>
              <a:t>入选上海市「开源人工智能支持计划（2025）」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035040"/>
            <a:ext cx="10607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0C705D"/>
                </a:solidFill>
                <a:latin typeface="Hiragino Sans GB"/>
              </a:rPr>
              <a:t>开源 MIT 许可 · PyPI 一键安装 · 本地 Web 界面 · 多语言文档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19456"/>
            <a:ext cx="82296" cy="566928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201168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0C705D"/>
                </a:solidFill>
                <a:latin typeface="Hiragino Sans GB"/>
              </a:rPr>
              <a:t>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759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dirty="0" err="1">
                <a:solidFill>
                  <a:srgbClr val="172A27"/>
                </a:solidFill>
                <a:latin typeface="Songti SC"/>
              </a:rPr>
              <a:t>一个框架，四类任务</a:t>
            </a:r>
            <a:endParaRPr sz="2400" b="1" dirty="0">
              <a:solidFill>
                <a:srgbClr val="172A27"/>
              </a:solidFill>
              <a:latin typeface="Songti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686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61706C"/>
                </a:solidFill>
                <a:latin typeface="Hiragino Sans GB"/>
              </a:rPr>
              <a:t>Bgolearn · npj Computational Materials (2026) · github.com/Bin-Cao/Bgolearn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37376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61706C"/>
                </a:solidFill>
                <a:latin typeface="Hiragino Sans GB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5193792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554480"/>
            <a:ext cx="91440" cy="1965960"/>
          </a:xfrm>
          <a:prstGeom prst="rect">
            <a:avLst/>
          </a:prstGeom>
          <a:solidFill>
            <a:srgbClr val="0C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755648"/>
            <a:ext cx="45720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>
                <a:solidFill>
                  <a:srgbClr val="172A27"/>
                </a:solidFill>
                <a:latin typeface="Hiragino Sans GB"/>
              </a:rPr>
              <a:t>回归预测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572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172220"/>
                </a:solidFill>
                <a:latin typeface="Hiragino Sans GB"/>
              </a:rPr>
              <a:t>从成分、工艺预测连续性能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4572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61706C"/>
                </a:solidFill>
                <a:latin typeface="Hiragino Sans GB"/>
              </a:rPr>
              <a:t>如：预测某配方烧成后的抗弯强度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554480"/>
            <a:ext cx="5193792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90488" y="1554480"/>
            <a:ext cx="91440" cy="1965960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7" y="1755648"/>
            <a:ext cx="45720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>
                <a:solidFill>
                  <a:srgbClr val="172A27"/>
                </a:solidFill>
                <a:latin typeface="Hiragino Sans GB"/>
              </a:rPr>
              <a:t>分类识别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7" y="2286000"/>
            <a:ext cx="4572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172220"/>
                </a:solidFill>
                <a:latin typeface="Hiragino Sans GB"/>
              </a:rPr>
              <a:t>判断「能/不能」「好/不好」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7" y="2880360"/>
            <a:ext cx="4572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61706C"/>
                </a:solidFill>
                <a:latin typeface="Hiragino Sans GB"/>
              </a:rPr>
              <a:t>如：识别相区边界、是否开裂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657600"/>
            <a:ext cx="5193792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657600"/>
            <a:ext cx="91440" cy="1965960"/>
          </a:xfrm>
          <a:prstGeom prst="rect">
            <a:avLst/>
          </a:prstGeom>
          <a:solidFill>
            <a:srgbClr val="159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3858768"/>
            <a:ext cx="45720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>
                <a:solidFill>
                  <a:srgbClr val="172A27"/>
                </a:solidFill>
                <a:latin typeface="Hiragino Sans GB"/>
              </a:rPr>
              <a:t>主动学习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389120"/>
            <a:ext cx="4572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172220"/>
                </a:solidFill>
                <a:latin typeface="Hiragino Sans GB"/>
              </a:rPr>
              <a:t>机器主动挑该补的实验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983480"/>
            <a:ext cx="4572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61706C"/>
                </a:solidFill>
                <a:latin typeface="Hiragino Sans GB"/>
              </a:rPr>
              <a:t>如：先做 20 组，系统再挑 10 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657600"/>
            <a:ext cx="5193792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90488" y="3657600"/>
            <a:ext cx="91440" cy="1965960"/>
          </a:xfrm>
          <a:prstGeom prst="rect">
            <a:avLst/>
          </a:prstGeom>
          <a:solidFill>
            <a:srgbClr val="596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7" y="3858768"/>
            <a:ext cx="45720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>
                <a:solidFill>
                  <a:srgbClr val="172A27"/>
                </a:solidFill>
                <a:latin typeface="Hiragino Sans GB"/>
              </a:rPr>
              <a:t>虚拟筛选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7" y="4389120"/>
            <a:ext cx="4572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172220"/>
                </a:solidFill>
                <a:latin typeface="Hiragino Sans GB"/>
              </a:rPr>
              <a:t>电脑里先把海量候选过一遍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7" y="4983480"/>
            <a:ext cx="4572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61706C"/>
                </a:solidFill>
                <a:latin typeface="Hiragino Sans GB"/>
              </a:rPr>
              <a:t>如：从 1 万种候选筛出 100 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669280"/>
            <a:ext cx="10607040" cy="777240"/>
          </a:xfrm>
          <a:prstGeom prst="roundRect">
            <a:avLst/>
          </a:prstGeom>
          <a:solidFill>
            <a:srgbClr val="F4F7F5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5669280"/>
            <a:ext cx="73152" cy="777240"/>
          </a:xfrm>
          <a:prstGeom prst="rect">
            <a:avLst/>
          </a:prstGeom>
          <a:solidFill>
            <a:srgbClr val="0C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6695" y="5797296"/>
            <a:ext cx="1022299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0C705D"/>
                </a:solidFill>
                <a:latin typeface="Hiragino Sans GB"/>
              </a:rPr>
              <a:t>为什么重要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5" y="6144768"/>
            <a:ext cx="10222992" cy="1920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>
                <a:solidFill>
                  <a:srgbClr val="172220"/>
                </a:solidFill>
                <a:latin typeface="Hiragino Sans GB"/>
              </a:rPr>
              <a:t>预测、判断、挑实验、批量筛选——一套软件都能做，不用换工具、不写大量胶水代码。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19456"/>
            <a:ext cx="82296" cy="566928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201168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0C705D"/>
                </a:solidFill>
                <a:latin typeface="Hiragino Sans GB"/>
              </a:rPr>
              <a:t>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759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72A27"/>
                </a:solidFill>
                <a:latin typeface="Songti SC"/>
              </a:rPr>
              <a:t>预测器可换：从高斯过程到多种机器学习模型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686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61706C"/>
                </a:solidFill>
                <a:latin typeface="Hiragino Sans GB"/>
              </a:rPr>
              <a:t>Bgolearn · npj Computational Materials (2026) · github.com/Bin-Cao/Bgolearn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37376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61706C"/>
                </a:solidFill>
                <a:latin typeface="Hiragino Sans GB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61706C"/>
                </a:solidFill>
                <a:latin typeface="Hiragino Sans GB"/>
              </a:rPr>
              <a:t>「预测性能」这一步，Bgolearn 提供多种「师傅」可选，各有擅长：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2084831" cy="2468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011680"/>
            <a:ext cx="2084831" cy="91440"/>
          </a:xfrm>
          <a:prstGeom prst="rect">
            <a:avLst/>
          </a:prstGeom>
          <a:solidFill>
            <a:srgbClr val="0C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2084831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50" b="1">
                <a:solidFill>
                  <a:srgbClr val="172A27"/>
                </a:solidFill>
                <a:latin typeface="Hiragino Sans GB"/>
              </a:rPr>
              <a:t>高斯过程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2084831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0C705D"/>
                </a:solidFill>
                <a:latin typeface="Hiragino Sans GB"/>
              </a:rPr>
              <a:t>GPR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54680"/>
            <a:ext cx="1719072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1706C"/>
                </a:solidFill>
                <a:latin typeface="Hiragino Sans GB"/>
              </a:rPr>
              <a:t>数据少也稳，自带不确定性，最常用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7792" y="2011680"/>
            <a:ext cx="2084831" cy="2468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07792" y="2011680"/>
            <a:ext cx="2084831" cy="91440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07792" y="2286000"/>
            <a:ext cx="2084831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50" b="1">
                <a:solidFill>
                  <a:srgbClr val="172A27"/>
                </a:solidFill>
                <a:latin typeface="Hiragino Sans GB"/>
              </a:rPr>
              <a:t>支持向量机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2697480"/>
            <a:ext cx="2084831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E97841"/>
                </a:solidFill>
                <a:latin typeface="Hiragino Sans GB"/>
              </a:rPr>
              <a:t>SVM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3154680"/>
            <a:ext cx="1719072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1706C"/>
                </a:solidFill>
                <a:latin typeface="Hiragino Sans GB"/>
              </a:rPr>
              <a:t>擅长分类边界识别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38344" y="2011680"/>
            <a:ext cx="2084831" cy="2468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38344" y="2011680"/>
            <a:ext cx="2084831" cy="91440"/>
          </a:xfrm>
          <a:prstGeom prst="rect">
            <a:avLst/>
          </a:prstGeom>
          <a:solidFill>
            <a:srgbClr val="159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38344" y="2286000"/>
            <a:ext cx="2084831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50" b="1">
                <a:solidFill>
                  <a:srgbClr val="172A27"/>
                </a:solidFill>
                <a:latin typeface="Hiragino Sans GB"/>
              </a:rPr>
              <a:t>随机森林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8344" y="2697480"/>
            <a:ext cx="2084831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159477"/>
                </a:solidFill>
                <a:latin typeface="Hiragino Sans GB"/>
              </a:rPr>
              <a:t>RF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3154680"/>
            <a:ext cx="1719072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1706C"/>
                </a:solidFill>
                <a:latin typeface="Hiragino Sans GB"/>
              </a:rPr>
              <a:t>稳健、快，特征多也适用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68896" y="2011680"/>
            <a:ext cx="2084831" cy="2468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168896" y="2011680"/>
            <a:ext cx="2084831" cy="91440"/>
          </a:xfrm>
          <a:prstGeom prst="rect">
            <a:avLst/>
          </a:prstGeom>
          <a:solidFill>
            <a:srgbClr val="596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68896" y="2286000"/>
            <a:ext cx="2084831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50" b="1">
                <a:solidFill>
                  <a:srgbClr val="172A27"/>
                </a:solidFill>
                <a:latin typeface="Hiragino Sans GB"/>
              </a:rPr>
              <a:t>AdaBoost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8896" y="2697480"/>
            <a:ext cx="2084831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596BB3"/>
                </a:solidFill>
                <a:latin typeface="Hiragino Sans GB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154680"/>
            <a:ext cx="1719072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1706C"/>
                </a:solidFill>
                <a:latin typeface="Hiragino Sans GB"/>
              </a:rPr>
              <a:t>把弱模型拧成强模型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99448" y="2011680"/>
            <a:ext cx="2084831" cy="2468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299448" y="2011680"/>
            <a:ext cx="2084831" cy="91440"/>
          </a:xfrm>
          <a:prstGeom prst="rect">
            <a:avLst/>
          </a:prstGeom>
          <a:solidFill>
            <a:srgbClr val="8C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99448" y="2286000"/>
            <a:ext cx="2084831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50" b="1">
                <a:solidFill>
                  <a:srgbClr val="172A27"/>
                </a:solidFill>
                <a:latin typeface="Hiragino Sans GB"/>
              </a:rPr>
              <a:t>神经网络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9448" y="2697480"/>
            <a:ext cx="2084831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8C5696"/>
                </a:solidFill>
                <a:latin typeface="Hiragino Sans GB"/>
              </a:rPr>
              <a:t>MLP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82328" y="3154680"/>
            <a:ext cx="1719072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1706C"/>
                </a:solidFill>
                <a:latin typeface="Hiragino Sans GB"/>
              </a:rPr>
              <a:t>数据多时捕捉复杂规律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800600"/>
            <a:ext cx="10607040" cy="731520"/>
          </a:xfrm>
          <a:prstGeom prst="roundRect">
            <a:avLst/>
          </a:prstGeom>
          <a:solidFill>
            <a:srgbClr val="F4F7F5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77240" y="4800600"/>
            <a:ext cx="73152" cy="731520"/>
          </a:xfrm>
          <a:prstGeom prst="rect">
            <a:avLst/>
          </a:prstGeom>
          <a:solidFill>
            <a:srgbClr val="159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96695" y="4928616"/>
            <a:ext cx="1022299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159477"/>
                </a:solidFill>
                <a:latin typeface="Hiragino Sans GB"/>
              </a:rPr>
              <a:t>对您而言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5" y="5276088"/>
            <a:ext cx="10222992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>
                <a:solidFill>
                  <a:srgbClr val="172220"/>
                </a:solidFill>
                <a:latin typeface="Hiragino Sans GB"/>
              </a:rPr>
              <a:t>不需要懂这些算法。系统按您的数据量、问题类型选择或自动匹配最合适的预测器。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715000"/>
            <a:ext cx="10607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dirty="0" err="1">
                <a:solidFill>
                  <a:srgbClr val="596BB3"/>
                </a:solidFill>
                <a:latin typeface="Hiragino Sans GB"/>
              </a:rPr>
              <a:t>支持批量推荐（一次给多组候选）与带噪声实验数据处理</a:t>
            </a:r>
            <a:r>
              <a:rPr sz="1350" b="1" dirty="0">
                <a:solidFill>
                  <a:srgbClr val="596BB3"/>
                </a:solidFill>
                <a:latin typeface="Hiragino Sans GB"/>
              </a:rPr>
              <a:t>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19456"/>
            <a:ext cx="82296" cy="566928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201168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0C705D"/>
                </a:solidFill>
                <a:latin typeface="Hiragino Sans GB"/>
              </a:rPr>
              <a:t>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759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dirty="0" err="1">
                <a:solidFill>
                  <a:srgbClr val="172A27"/>
                </a:solidFill>
                <a:latin typeface="Songti SC"/>
              </a:rPr>
              <a:t>多目标：性能冲突时，给你「最优权衡曲线</a:t>
            </a:r>
            <a:r>
              <a:rPr sz="2400" b="1" dirty="0">
                <a:solidFill>
                  <a:srgbClr val="172A27"/>
                </a:solidFill>
                <a:latin typeface="Songti SC"/>
              </a:rPr>
              <a:t>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37376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61706C"/>
                </a:solidFill>
                <a:latin typeface="Hiragino Sans GB"/>
              </a:rPr>
              <a:t>12</a:t>
            </a:r>
          </a:p>
        </p:txBody>
      </p:sp>
      <p:pic>
        <p:nvPicPr>
          <p:cNvPr id="7" name="Picture 6" descr="pa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21" y="1371600"/>
            <a:ext cx="6664236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463040"/>
            <a:ext cx="3794760" cy="4480560"/>
          </a:xfrm>
          <a:prstGeom prst="roundRect">
            <a:avLst/>
          </a:prstGeom>
          <a:solidFill>
            <a:srgbClr val="F4F7F5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26679" y="1463040"/>
            <a:ext cx="82296" cy="4480560"/>
          </a:xfrm>
          <a:prstGeom prst="rect">
            <a:avLst/>
          </a:prstGeom>
          <a:solidFill>
            <a:srgbClr val="596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1000" y="1737360"/>
            <a:ext cx="32918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596BB3"/>
                </a:solidFill>
                <a:latin typeface="Hiragino Sans GB"/>
              </a:rPr>
              <a:t>怎么读这张图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240280"/>
            <a:ext cx="3246120" cy="20116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72220"/>
                </a:solidFill>
                <a:latin typeface="Hiragino Sans GB"/>
              </a:rPr>
              <a:t>• 横轴、纵轴：两个目标性能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72220"/>
                </a:solidFill>
                <a:latin typeface="Hiragino Sans GB"/>
              </a:rPr>
              <a:t>• 灰点：候选配方的性能组合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72220"/>
                </a:solidFill>
                <a:latin typeface="Hiragino Sans GB"/>
              </a:rPr>
              <a:t>• 橙色曲线：Pareto 前沿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72220"/>
                </a:solidFill>
                <a:latin typeface="Hiragino Sans GB"/>
              </a:rPr>
              <a:t>• 前沿上的点「不能同时更好」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72220"/>
                </a:solidFill>
                <a:latin typeface="Hiragino Sans GB"/>
              </a:rPr>
              <a:t>• 按商业需求，选一个点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4389120"/>
            <a:ext cx="3246120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596BB3"/>
                </a:solidFill>
                <a:latin typeface="Hiragino Sans GB"/>
              </a:rPr>
              <a:t>多目标优化（MultiBgolearn）在模型内部显式处理权衡，而不是事后简单加权。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6172200"/>
            <a:ext cx="10607040" cy="548640"/>
          </a:xfrm>
          <a:prstGeom prst="roundRect">
            <a:avLst/>
          </a:prstGeom>
          <a:solidFill>
            <a:srgbClr val="F4F7F5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6172200"/>
            <a:ext cx="73152" cy="548640"/>
          </a:xfrm>
          <a:prstGeom prst="rect">
            <a:avLst/>
          </a:prstGeom>
          <a:solidFill>
            <a:srgbClr val="596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96695" y="6300216"/>
            <a:ext cx="1022299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596BB3"/>
                </a:solidFill>
                <a:latin typeface="Hiragino Sans GB"/>
              </a:rPr>
              <a:t>记住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4695" y="6318504"/>
            <a:ext cx="10222992" cy="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dirty="0">
                <a:solidFill>
                  <a:srgbClr val="172220"/>
                </a:solidFill>
                <a:latin typeface="Hiragino Sans GB"/>
              </a:rPr>
              <a:t>Pareto </a:t>
            </a:r>
            <a:r>
              <a:rPr sz="1500" b="0" dirty="0" err="1">
                <a:solidFill>
                  <a:srgbClr val="172220"/>
                </a:solidFill>
                <a:latin typeface="Hiragino Sans GB"/>
              </a:rPr>
              <a:t>前沿</a:t>
            </a:r>
            <a:r>
              <a:rPr sz="1500" b="0" dirty="0">
                <a:solidFill>
                  <a:srgbClr val="172220"/>
                </a:solidFill>
                <a:latin typeface="Hiragino Sans GB"/>
              </a:rPr>
              <a:t> = </a:t>
            </a:r>
            <a:r>
              <a:rPr sz="1500" b="0" dirty="0" err="1">
                <a:solidFill>
                  <a:srgbClr val="172220"/>
                </a:solidFill>
                <a:latin typeface="Hiragino Sans GB"/>
              </a:rPr>
              <a:t>在多个目标之间「最优权衡」的一条线，由您拍板选哪个点</a:t>
            </a:r>
            <a:r>
              <a:rPr sz="1500" b="0" dirty="0">
                <a:solidFill>
                  <a:srgbClr val="172220"/>
                </a:solidFill>
                <a:latin typeface="Hiragino Sans GB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19456"/>
            <a:ext cx="82296" cy="566928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201168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0C705D"/>
                </a:solidFill>
                <a:latin typeface="Hiragino Sans GB"/>
              </a:rPr>
              <a:t>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759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72A27"/>
                </a:solidFill>
                <a:latin typeface="Songti SC"/>
              </a:rPr>
              <a:t>同样的实验预算，找到更好的结果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37376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61706C"/>
                </a:solidFill>
                <a:latin typeface="Hiragino Sans GB"/>
              </a:rPr>
              <a:t>13</a:t>
            </a:r>
          </a:p>
        </p:txBody>
      </p:sp>
      <p:pic>
        <p:nvPicPr>
          <p:cNvPr id="7" name="Picture 6" descr="bench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71022"/>
            <a:ext cx="6675120" cy="455603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463040"/>
            <a:ext cx="3794760" cy="4480560"/>
          </a:xfrm>
          <a:prstGeom prst="roundRect">
            <a:avLst/>
          </a:prstGeom>
          <a:solidFill>
            <a:srgbClr val="F4F7F5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26679" y="1463040"/>
            <a:ext cx="82296" cy="4480560"/>
          </a:xfrm>
          <a:prstGeom prst="rect">
            <a:avLst/>
          </a:prstGeom>
          <a:solidFill>
            <a:srgbClr val="0C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1000" y="1737360"/>
            <a:ext cx="32918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0C705D"/>
                </a:solidFill>
                <a:latin typeface="Hiragino Sans GB"/>
              </a:rPr>
              <a:t>怎么读这张图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240280"/>
            <a:ext cx="3246120" cy="20116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72220"/>
                </a:solidFill>
                <a:latin typeface="Hiragino Sans GB"/>
              </a:rPr>
              <a:t>• 横轴：已做的实验次数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72220"/>
                </a:solidFill>
                <a:latin typeface="Hiragino Sans GB"/>
              </a:rPr>
              <a:t>• 纵轴：目前找到的最佳性能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72220"/>
                </a:solidFill>
                <a:latin typeface="Hiragino Sans GB"/>
              </a:rPr>
              <a:t>• 越靠上、越靠右 = 越好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72220"/>
                </a:solidFill>
                <a:latin typeface="Hiragino Sans GB"/>
              </a:rPr>
              <a:t>• 绿色：Bgolearn 贝叶斯优化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72220"/>
                </a:solidFill>
                <a:latin typeface="Hiragino Sans GB"/>
              </a:rPr>
              <a:t>• 约 20 次实验后明显拉开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4389120"/>
            <a:ext cx="3246120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0C705D"/>
                </a:solidFill>
                <a:latin typeface="Hiragino Sans GB"/>
              </a:rPr>
              <a:t>示意结果（Benchmark 演示）：相同预算下，智能推荐比随机尝试更快逼近最优。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6172200"/>
            <a:ext cx="10607040" cy="548640"/>
          </a:xfrm>
          <a:prstGeom prst="roundRect">
            <a:avLst/>
          </a:prstGeom>
          <a:solidFill>
            <a:srgbClr val="F4F7F5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6172200"/>
            <a:ext cx="73152" cy="548640"/>
          </a:xfrm>
          <a:prstGeom prst="rect">
            <a:avLst/>
          </a:prstGeom>
          <a:solidFill>
            <a:srgbClr val="0C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96695" y="6300216"/>
            <a:ext cx="1022299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0C705D"/>
                </a:solidFill>
                <a:latin typeface="Hiragino Sans GB"/>
              </a:rPr>
              <a:t>记住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3161" y="6325617"/>
            <a:ext cx="10222992" cy="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dirty="0" err="1">
                <a:solidFill>
                  <a:srgbClr val="172220"/>
                </a:solidFill>
                <a:latin typeface="Hiragino Sans GB"/>
              </a:rPr>
              <a:t>价值</a:t>
            </a:r>
            <a:r>
              <a:rPr sz="1500" b="0" dirty="0">
                <a:solidFill>
                  <a:srgbClr val="172220"/>
                </a:solidFill>
                <a:latin typeface="Hiragino Sans GB"/>
              </a:rPr>
              <a:t> = </a:t>
            </a:r>
            <a:r>
              <a:rPr sz="1500" b="0" dirty="0" err="1">
                <a:solidFill>
                  <a:srgbClr val="172220"/>
                </a:solidFill>
                <a:latin typeface="Hiragino Sans GB"/>
              </a:rPr>
              <a:t>同样的钱和时间，得到明显更好的材料方案</a:t>
            </a:r>
            <a:r>
              <a:rPr sz="1500" b="0" dirty="0">
                <a:solidFill>
                  <a:srgbClr val="172220"/>
                </a:solidFill>
                <a:latin typeface="Hiragino Sans GB"/>
              </a:rPr>
              <a:t>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19456"/>
            <a:ext cx="82296" cy="566928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201168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0C705D"/>
                </a:solidFill>
                <a:latin typeface="Hiragino Sans GB"/>
              </a:rPr>
              <a:t>USABILITY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759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72A27"/>
                </a:solidFill>
                <a:latin typeface="Songti SC"/>
              </a:rPr>
              <a:t>开箱即用：从安装到上手只要几分钟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37376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61706C"/>
                </a:solidFill>
                <a:latin typeface="Hiragino Sans GB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10607040" cy="8595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554480"/>
            <a:ext cx="82296" cy="859536"/>
          </a:xfrm>
          <a:prstGeom prst="rect">
            <a:avLst/>
          </a:prstGeom>
          <a:solidFill>
            <a:srgbClr val="0C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664207"/>
            <a:ext cx="40233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172A27"/>
                </a:solidFill>
                <a:latin typeface="Hiragino Sans GB"/>
              </a:rPr>
              <a:t>pip install Bgolearn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29967"/>
            <a:ext cx="4023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C705D"/>
                </a:solidFill>
                <a:latin typeface="Hiragino Sans GB"/>
              </a:rPr>
              <a:t>一条命令装好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783080"/>
            <a:ext cx="576072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1706C"/>
                </a:solidFill>
                <a:latin typeface="Hiragino Sans GB"/>
              </a:rPr>
              <a:t>PyPI 官方包，一键安装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523744"/>
            <a:ext cx="10607040" cy="8595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2523744"/>
            <a:ext cx="82296" cy="859536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2633472"/>
            <a:ext cx="40233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172A27"/>
                </a:solidFill>
                <a:latin typeface="Hiragino Sans GB"/>
              </a:rPr>
              <a:t>本地 Web 界面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999232"/>
            <a:ext cx="4023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E97841"/>
                </a:solidFill>
                <a:latin typeface="Hiragino Sans GB"/>
              </a:rPr>
              <a:t>网页点一点就能用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752344"/>
            <a:ext cx="576072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1706C"/>
                </a:solidFill>
                <a:latin typeface="Hiragino Sans GB"/>
              </a:rPr>
              <a:t>python bgolearn_ui.py 启动，浏览器操作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93008"/>
            <a:ext cx="10607040" cy="8595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493008"/>
            <a:ext cx="82296" cy="859536"/>
          </a:xfrm>
          <a:prstGeom prst="rect">
            <a:avLst/>
          </a:prstGeom>
          <a:solidFill>
            <a:srgbClr val="159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3602736"/>
            <a:ext cx="40233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172A27"/>
                </a:solidFill>
                <a:latin typeface="Hiragino Sans GB"/>
              </a:rPr>
              <a:t>互动游戏 Playground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68496"/>
            <a:ext cx="4023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159477"/>
                </a:solidFill>
                <a:latin typeface="Hiragino Sans GB"/>
              </a:rPr>
              <a:t>30 秒看懂原理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721608"/>
            <a:ext cx="576072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1706C"/>
                </a:solidFill>
                <a:latin typeface="Hiragino Sans GB"/>
              </a:rPr>
              <a:t>在线「贝叶斯优化小游戏」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462272"/>
            <a:ext cx="10607040" cy="8595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" y="4462272"/>
            <a:ext cx="82296" cy="859536"/>
          </a:xfrm>
          <a:prstGeom prst="rect">
            <a:avLst/>
          </a:prstGeom>
          <a:solidFill>
            <a:srgbClr val="596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4572000"/>
            <a:ext cx="40233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172A27"/>
                </a:solidFill>
                <a:latin typeface="Hiragino Sans GB"/>
              </a:rPr>
              <a:t>多语言文档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937760"/>
            <a:ext cx="4023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596BB3"/>
                </a:solidFill>
                <a:latin typeface="Hiragino Sans GB"/>
              </a:rPr>
              <a:t>手册齐全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4690872"/>
            <a:ext cx="576072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1706C"/>
                </a:solidFill>
                <a:latin typeface="Hiragino Sans GB"/>
              </a:rPr>
              <a:t>bgolearn.netlify.app 在线手册与视频教程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431536"/>
            <a:ext cx="10607040" cy="8595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5431536"/>
            <a:ext cx="82296" cy="859536"/>
          </a:xfrm>
          <a:prstGeom prst="rect">
            <a:avLst/>
          </a:prstGeom>
          <a:solidFill>
            <a:srgbClr val="8C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1560" y="5541264"/>
            <a:ext cx="40233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172A27"/>
                </a:solidFill>
                <a:latin typeface="Hiragino Sans GB"/>
              </a:rPr>
              <a:t>多模块生态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907023"/>
            <a:ext cx="4023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8C5696"/>
                </a:solidFill>
                <a:latin typeface="Hiragino Sans GB"/>
              </a:rPr>
              <a:t>功能齐全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5660136"/>
            <a:ext cx="576072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1706C"/>
                </a:solidFill>
                <a:latin typeface="Hiragino Sans GB"/>
              </a:rPr>
              <a:t>MultiBgolearn · BgoFace 官方界面 · CodeDemo 示例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6437376"/>
            <a:ext cx="10607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dirty="0" err="1">
                <a:solidFill>
                  <a:srgbClr val="0C705D"/>
                </a:solidFill>
                <a:latin typeface="Hiragino Sans GB"/>
              </a:rPr>
              <a:t>上手路径：玩</a:t>
            </a:r>
            <a:r>
              <a:rPr sz="1300" b="1" dirty="0">
                <a:solidFill>
                  <a:srgbClr val="0C705D"/>
                </a:solidFill>
                <a:latin typeface="Hiragino Sans GB"/>
              </a:rPr>
              <a:t> Playground </a:t>
            </a:r>
            <a:r>
              <a:rPr sz="1300" b="1" dirty="0" err="1">
                <a:solidFill>
                  <a:srgbClr val="0C705D"/>
                </a:solidFill>
                <a:latin typeface="Hiragino Sans GB"/>
              </a:rPr>
              <a:t>看原理</a:t>
            </a:r>
            <a:r>
              <a:rPr sz="1300" b="1" dirty="0">
                <a:solidFill>
                  <a:srgbClr val="0C705D"/>
                </a:solidFill>
                <a:latin typeface="Hiragino Sans GB"/>
              </a:rPr>
              <a:t> → </a:t>
            </a:r>
            <a:r>
              <a:rPr sz="1300" b="1" dirty="0" err="1">
                <a:solidFill>
                  <a:srgbClr val="0C705D"/>
                </a:solidFill>
                <a:latin typeface="Hiragino Sans GB"/>
              </a:rPr>
              <a:t>跑</a:t>
            </a:r>
            <a:r>
              <a:rPr sz="1300" b="1" dirty="0">
                <a:solidFill>
                  <a:srgbClr val="0C705D"/>
                </a:solidFill>
                <a:latin typeface="Hiragino Sans GB"/>
              </a:rPr>
              <a:t> </a:t>
            </a:r>
            <a:r>
              <a:rPr sz="1300" b="1" dirty="0" err="1">
                <a:solidFill>
                  <a:srgbClr val="0C705D"/>
                </a:solidFill>
                <a:latin typeface="Hiragino Sans GB"/>
              </a:rPr>
              <a:t>CodeDemo</a:t>
            </a:r>
            <a:r>
              <a:rPr sz="1300" b="1" dirty="0">
                <a:solidFill>
                  <a:srgbClr val="0C705D"/>
                </a:solidFill>
                <a:latin typeface="Hiragino Sans GB"/>
              </a:rPr>
              <a:t> </a:t>
            </a:r>
            <a:r>
              <a:rPr sz="1300" b="1" dirty="0" err="1">
                <a:solidFill>
                  <a:srgbClr val="0C705D"/>
                </a:solidFill>
                <a:latin typeface="Hiragino Sans GB"/>
              </a:rPr>
              <a:t>示例</a:t>
            </a:r>
            <a:r>
              <a:rPr sz="1300" b="1" dirty="0">
                <a:solidFill>
                  <a:srgbClr val="0C705D"/>
                </a:solidFill>
                <a:latin typeface="Hiragino Sans GB"/>
              </a:rPr>
              <a:t> → </a:t>
            </a:r>
            <a:r>
              <a:rPr sz="1300" b="1" dirty="0" err="1">
                <a:solidFill>
                  <a:srgbClr val="0C705D"/>
                </a:solidFill>
                <a:latin typeface="Hiragino Sans GB"/>
              </a:rPr>
              <a:t>换自己的数据开始</a:t>
            </a:r>
            <a:r>
              <a:rPr sz="1300" b="1" dirty="0">
                <a:solidFill>
                  <a:srgbClr val="0C705D"/>
                </a:solidFill>
                <a:latin typeface="Hiragino Sans GB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19456"/>
            <a:ext cx="82296" cy="566928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201168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0C705D"/>
                </a:solidFill>
                <a:latin typeface="Hiragino Sans GB"/>
              </a:rPr>
              <a:t>TRACK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759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dirty="0" err="1">
                <a:solidFill>
                  <a:srgbClr val="172A27"/>
                </a:solidFill>
                <a:latin typeface="Songti SC"/>
              </a:rPr>
              <a:t>三年应用时间线：从合金到催化剂到超表面</a:t>
            </a:r>
            <a:endParaRPr sz="2400" b="1" dirty="0">
              <a:solidFill>
                <a:srgbClr val="172A27"/>
              </a:solidFill>
              <a:latin typeface="Songti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37376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61706C"/>
                </a:solidFill>
                <a:latin typeface="Hiragino Sans GB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0972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0C705D"/>
                </a:solidFill>
                <a:latin typeface="Hiragino Sans GB"/>
              </a:rPr>
              <a:t>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10972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0C705D"/>
                </a:solidFill>
                <a:latin typeface="Hiragino Sans GB"/>
              </a:rPr>
              <a:t>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572000"/>
            <a:ext cx="10972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0C705D"/>
                </a:solidFill>
                <a:latin typeface="Hiragino Sans GB"/>
              </a:rPr>
              <a:t>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1600200"/>
            <a:ext cx="9144000" cy="713232"/>
          </a:xfrm>
          <a:prstGeom prst="roundRect">
            <a:avLst/>
          </a:prstGeom>
          <a:solidFill>
            <a:srgbClr val="F4F7F5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40280" y="1600200"/>
            <a:ext cx="64008" cy="713232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68880" y="1655064"/>
            <a:ext cx="2834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E97841"/>
                </a:solidFill>
                <a:latin typeface="Hiragino Sans GB"/>
              </a:rPr>
              <a:t>2024 · Materials &amp;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655064"/>
            <a:ext cx="5852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172A27"/>
                </a:solidFill>
                <a:latin typeface="Hiragino Sans GB"/>
              </a:rPr>
              <a:t>无铅焊料合金设计（主动学习）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1965960"/>
            <a:ext cx="8732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1706C"/>
                </a:solidFill>
                <a:latin typeface="Hiragino Sans GB"/>
              </a:rPr>
              <a:t>npj Comput. Mater.：MLMD 平台以 Bgolearn 为后端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2377440"/>
            <a:ext cx="9144000" cy="713232"/>
          </a:xfrm>
          <a:prstGeom prst="roundRect">
            <a:avLst/>
          </a:prstGeom>
          <a:solidFill>
            <a:srgbClr val="F4F7F5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240280" y="2377440"/>
            <a:ext cx="64008" cy="713232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68880" y="2432304"/>
            <a:ext cx="2834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E97841"/>
                </a:solidFill>
                <a:latin typeface="Hiragino Sans GB"/>
              </a:rPr>
              <a:t>2025 · Nano Letters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432304"/>
            <a:ext cx="5852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172A27"/>
                </a:solidFill>
                <a:latin typeface="Hiragino Sans GB"/>
              </a:rPr>
              <a:t>超高真空自驱动实验室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743200"/>
            <a:ext cx="8732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1706C"/>
                </a:solidFill>
                <a:latin typeface="Hiragino Sans GB"/>
              </a:rPr>
              <a:t>Small：机器学习纳米酶系统 · 抗肿瘤研究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40280" y="3154680"/>
            <a:ext cx="9144000" cy="713232"/>
          </a:xfrm>
          <a:prstGeom prst="roundRect">
            <a:avLst/>
          </a:prstGeom>
          <a:solidFill>
            <a:srgbClr val="F4F7F5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240280" y="3154680"/>
            <a:ext cx="64008" cy="713232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68880" y="3209544"/>
            <a:ext cx="2834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E97841"/>
                </a:solidFill>
                <a:latin typeface="Hiragino Sans GB"/>
              </a:rPr>
              <a:t>2025 · 更多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209544"/>
            <a:ext cx="5852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172A27"/>
                </a:solidFill>
                <a:latin typeface="Hiragino Sans GB"/>
              </a:rPr>
              <a:t>Mg-Ca-Zn 合金 · 盾构发泡剂 · 超表面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3520440"/>
            <a:ext cx="8732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1706C"/>
                </a:solidFill>
                <a:latin typeface="Hiragino Sans GB"/>
              </a:rPr>
              <a:t>Intelligent Computing / Comput. Mater. Science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40280" y="4846320"/>
            <a:ext cx="9144000" cy="713232"/>
          </a:xfrm>
          <a:prstGeom prst="roundRect">
            <a:avLst/>
          </a:prstGeom>
          <a:solidFill>
            <a:srgbClr val="F4F7F5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240280" y="4846320"/>
            <a:ext cx="64008" cy="713232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68880" y="4901183"/>
            <a:ext cx="2834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E97841"/>
                </a:solidFill>
                <a:latin typeface="Hiragino Sans GB"/>
              </a:rPr>
              <a:t>2026 · 高熵合金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4901183"/>
            <a:ext cx="5852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172A27"/>
                </a:solidFill>
                <a:latin typeface="Hiragino Sans GB"/>
              </a:rPr>
              <a:t>TaNbMoVW 难熔高熵合金设计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5212080"/>
            <a:ext cx="8732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1706C"/>
                </a:solidFill>
                <a:latin typeface="Hiragino Sans GB"/>
              </a:rPr>
              <a:t>Science Bulletin：超耐久高活性催化剂发现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40280" y="5623560"/>
            <a:ext cx="9144000" cy="713232"/>
          </a:xfrm>
          <a:prstGeom prst="roundRect">
            <a:avLst/>
          </a:prstGeom>
          <a:solidFill>
            <a:srgbClr val="F4F7F5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240280" y="5623560"/>
            <a:ext cx="64008" cy="713232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468880" y="5678424"/>
            <a:ext cx="2834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E97841"/>
                </a:solidFill>
                <a:latin typeface="Hiragino Sans GB"/>
              </a:rPr>
              <a:t>2026 · 更多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5678424"/>
            <a:ext cx="5852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172A27"/>
                </a:solidFill>
                <a:latin typeface="Hiragino Sans GB"/>
              </a:rPr>
              <a:t>WS₂ 薄膜 · 表面反应优化 · 掺杂半导体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5989320"/>
            <a:ext cx="8732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1706C"/>
                </a:solidFill>
                <a:latin typeface="Hiragino Sans GB"/>
              </a:rPr>
              <a:t>Chemical Science / Surfaces and Interfaces 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2480" y="6437376"/>
            <a:ext cx="10607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C705D"/>
                </a:solidFill>
                <a:latin typeface="Hiragino Sans GB"/>
              </a:rPr>
              <a:t>覆盖合金、半导体、催化剂、纳米材料、超表面、薄膜、焊料等领域。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19456"/>
            <a:ext cx="82296" cy="566928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201168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0C705D"/>
                </a:solidFill>
                <a:latin typeface="Hiragino Sans GB"/>
              </a:rPr>
              <a:t>TRACK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dirty="0" err="1">
                <a:solidFill>
                  <a:srgbClr val="172A27"/>
                </a:solidFill>
                <a:latin typeface="Songti SC"/>
              </a:rPr>
              <a:t>社区热度与官方认可</a:t>
            </a:r>
            <a:endParaRPr sz="2400" b="1" dirty="0">
              <a:solidFill>
                <a:srgbClr val="172A27"/>
              </a:solidFill>
              <a:latin typeface="Songti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686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61706C"/>
                </a:solidFill>
                <a:latin typeface="Hiragino Sans GB"/>
              </a:rPr>
              <a:t>Bgolearn · npj Computational Materials (2026) · github.com/Bin-Cao/Bgolearn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37376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61706C"/>
                </a:solidFill>
                <a:latin typeface="Hiragino Sans GB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2542032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554480"/>
            <a:ext cx="2542032" cy="91440"/>
          </a:xfrm>
          <a:prstGeom prst="rect">
            <a:avLst/>
          </a:prstGeom>
          <a:solidFill>
            <a:srgbClr val="0C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2542032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700" b="1">
                <a:solidFill>
                  <a:srgbClr val="0C705D"/>
                </a:solidFill>
                <a:latin typeface="Hiragino Sans GB"/>
              </a:rPr>
              <a:t>150+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254203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172A27"/>
                </a:solidFill>
                <a:latin typeface="Hiragino Sans GB"/>
              </a:rPr>
              <a:t>GitHub Stars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2084831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61706C"/>
                </a:solidFill>
                <a:latin typeface="Hiragino Sans GB"/>
              </a:rPr>
              <a:t>开源社区关注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6" y="1554480"/>
            <a:ext cx="2542032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65576" y="1554480"/>
            <a:ext cx="2542032" cy="91440"/>
          </a:xfrm>
          <a:prstGeom prst="rect">
            <a:avLst/>
          </a:prstGeom>
          <a:solidFill>
            <a:srgbClr val="159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65576" y="1783080"/>
            <a:ext cx="2542032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700" b="1">
                <a:solidFill>
                  <a:srgbClr val="159477"/>
                </a:solidFill>
                <a:latin typeface="Hiragino Sans GB"/>
              </a:rPr>
              <a:t>335+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6" y="2377440"/>
            <a:ext cx="254203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172A27"/>
                </a:solidFill>
                <a:latin typeface="Hiragino Sans GB"/>
              </a:rPr>
              <a:t>Commits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2788920"/>
            <a:ext cx="2084831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61706C"/>
                </a:solidFill>
                <a:latin typeface="Hiragino Sans GB"/>
              </a:rPr>
              <a:t>长期迭代维护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3912" y="1554480"/>
            <a:ext cx="2542032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53912" y="1554480"/>
            <a:ext cx="2542032" cy="91440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53912" y="1783080"/>
            <a:ext cx="2542032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700" b="1">
                <a:solidFill>
                  <a:srgbClr val="E97841"/>
                </a:solidFill>
                <a:latin typeface="Hiragino Sans GB"/>
              </a:rPr>
              <a:t>多语言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3912" y="2377440"/>
            <a:ext cx="254203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172A27"/>
                </a:solidFill>
                <a:latin typeface="Hiragino Sans GB"/>
              </a:rPr>
              <a:t>文档翻译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788920"/>
            <a:ext cx="2084831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61706C"/>
                </a:solidFill>
                <a:latin typeface="Hiragino Sans GB"/>
              </a:rPr>
              <a:t>中/英/日/韩/德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42248" y="1554480"/>
            <a:ext cx="2542032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42248" y="1554480"/>
            <a:ext cx="2542032" cy="91440"/>
          </a:xfrm>
          <a:prstGeom prst="rect">
            <a:avLst/>
          </a:prstGeom>
          <a:solidFill>
            <a:srgbClr val="596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42248" y="1783080"/>
            <a:ext cx="2542032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700" b="1">
                <a:solidFill>
                  <a:srgbClr val="596BB3"/>
                </a:solidFill>
                <a:latin typeface="Hiragino Sans GB"/>
              </a:rPr>
              <a:t>3 年+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2248" y="2377440"/>
            <a:ext cx="2542032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172A27"/>
                </a:solidFill>
                <a:latin typeface="Hiragino Sans GB"/>
              </a:rPr>
              <a:t>应用积累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0848" y="2788920"/>
            <a:ext cx="2084831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61706C"/>
                </a:solidFill>
                <a:latin typeface="Hiragino Sans GB"/>
              </a:rPr>
              <a:t>2024-2026 持续产出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657600"/>
            <a:ext cx="6492240" cy="2377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635240" y="3657600"/>
            <a:ext cx="3749039" cy="2377440"/>
          </a:xfrm>
          <a:prstGeom prst="roundRect">
            <a:avLst/>
          </a:prstGeom>
          <a:solidFill>
            <a:srgbClr val="F4F7F5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635240" y="3657600"/>
            <a:ext cx="82296" cy="2377440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09560" y="3886200"/>
            <a:ext cx="32004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E97841"/>
                </a:solidFill>
                <a:latin typeface="Hiragino Sans GB"/>
              </a:rPr>
              <a:t>官方认可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4389120"/>
            <a:ext cx="3246120" cy="1463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72220"/>
                </a:solidFill>
                <a:latin typeface="Hiragino Sans GB"/>
              </a:rPr>
              <a:t>入选上海市「开源人工智能支持计划（2025）」，由上海市经信委支持——政府层面认可其技术路线与开源价值。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DA50039-BF47-8686-AEF0-601916DD7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835" y="3758184"/>
            <a:ext cx="3427323" cy="20992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19456"/>
            <a:ext cx="82296" cy="566928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201168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0C705D"/>
                </a:solidFill>
                <a:latin typeface="Hiragino Sans GB"/>
              </a:rPr>
              <a:t>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1" y="493776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72A27"/>
                </a:solidFill>
                <a:latin typeface="Songti SC"/>
              </a:rPr>
              <a:t>完整生态：不止一个库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686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61706C"/>
                </a:solidFill>
                <a:latin typeface="Hiragino Sans GB"/>
              </a:rPr>
              <a:t>Bgolearn · npj Computational Materials (2026) · github.com/Bin-Cao/Bgolearn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37376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61706C"/>
                </a:solidFill>
                <a:latin typeface="Hiragino Sans GB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10607040" cy="8595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554480"/>
            <a:ext cx="82296" cy="859536"/>
          </a:xfrm>
          <a:prstGeom prst="rect">
            <a:avLst/>
          </a:prstGeom>
          <a:solidFill>
            <a:srgbClr val="0C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664207"/>
            <a:ext cx="32918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172A27"/>
                </a:solidFill>
                <a:latin typeface="Hiragino Sans GB"/>
              </a:rPr>
              <a:t>Bgolearn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29967"/>
            <a:ext cx="3291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C705D"/>
                </a:solidFill>
                <a:latin typeface="Hiragino Sans GB"/>
              </a:rPr>
              <a:t>核心框架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783080"/>
            <a:ext cx="63093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1706C"/>
                </a:solidFill>
                <a:latin typeface="Hiragino Sans GB"/>
              </a:rPr>
              <a:t>统一贝叶斯优化，回归/分类/主动学习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523744"/>
            <a:ext cx="10607040" cy="8595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2523744"/>
            <a:ext cx="82296" cy="859536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2633472"/>
            <a:ext cx="32918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172A27"/>
                </a:solidFill>
                <a:latin typeface="Hiragino Sans GB"/>
              </a:rPr>
              <a:t>MultiBgolearn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999232"/>
            <a:ext cx="3291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E97841"/>
                </a:solidFill>
                <a:latin typeface="Hiragino Sans GB"/>
              </a:rPr>
              <a:t>多目标模块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752344"/>
            <a:ext cx="63093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1706C"/>
                </a:solidFill>
                <a:latin typeface="Hiragino Sans GB"/>
              </a:rPr>
              <a:t>显式处理多目标权衡与批量推荐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93008"/>
            <a:ext cx="10607040" cy="8595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493008"/>
            <a:ext cx="82296" cy="859536"/>
          </a:xfrm>
          <a:prstGeom prst="rect">
            <a:avLst/>
          </a:prstGeom>
          <a:solidFill>
            <a:srgbClr val="596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3602736"/>
            <a:ext cx="32918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172A27"/>
                </a:solidFill>
                <a:latin typeface="Hiragino Sans GB"/>
              </a:rPr>
              <a:t>BgoFace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68496"/>
            <a:ext cx="3291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596BB3"/>
                </a:solidFill>
                <a:latin typeface="Hiragino Sans GB"/>
              </a:rPr>
              <a:t>官方图形界面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721608"/>
            <a:ext cx="63093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1706C"/>
                </a:solidFill>
                <a:latin typeface="Hiragino Sans GB"/>
              </a:rPr>
              <a:t>面向非技术用户的点选式操作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462272"/>
            <a:ext cx="10607040" cy="8595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" y="4462272"/>
            <a:ext cx="82296" cy="859536"/>
          </a:xfrm>
          <a:prstGeom prst="rect">
            <a:avLst/>
          </a:prstGeom>
          <a:solidFill>
            <a:srgbClr val="159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4572000"/>
            <a:ext cx="32918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172A27"/>
                </a:solidFill>
                <a:latin typeface="Hiragino Sans GB"/>
              </a:rPr>
              <a:t>CodeDemo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937760"/>
            <a:ext cx="3291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159477"/>
                </a:solidFill>
                <a:latin typeface="Hiragino Sans GB"/>
              </a:rPr>
              <a:t>示例与数据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690872"/>
            <a:ext cx="63093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1706C"/>
                </a:solidFill>
                <a:latin typeface="Hiragino Sans GB"/>
              </a:rPr>
              <a:t>可运行的案例与真实材料数据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541264"/>
            <a:ext cx="32918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172A27"/>
                </a:solidFill>
                <a:latin typeface="Hiragino Sans GB"/>
              </a:rPr>
              <a:t>在线文档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907023"/>
            <a:ext cx="3291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8C5696"/>
                </a:solidFill>
                <a:latin typeface="Hiragino Sans GB"/>
              </a:rPr>
              <a:t>手册与教程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5660136"/>
            <a:ext cx="630936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1706C"/>
                </a:solidFill>
                <a:latin typeface="Hiragino Sans GB"/>
              </a:rPr>
              <a:t>bgolearn.netlify.app + Bilibili 视频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394960"/>
            <a:ext cx="10607040" cy="777240"/>
          </a:xfrm>
          <a:prstGeom prst="roundRect">
            <a:avLst/>
          </a:prstGeom>
          <a:solidFill>
            <a:srgbClr val="F4F7F5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7240" y="5394960"/>
            <a:ext cx="73152" cy="777240"/>
          </a:xfrm>
          <a:prstGeom prst="rect">
            <a:avLst/>
          </a:prstGeom>
          <a:solidFill>
            <a:srgbClr val="0C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6695" y="5522976"/>
            <a:ext cx="1022299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0C705D"/>
                </a:solidFill>
                <a:latin typeface="Hiragino Sans GB"/>
              </a:rPr>
              <a:t>为什么重要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5" y="5870448"/>
            <a:ext cx="10222992" cy="1920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>
                <a:solidFill>
                  <a:srgbClr val="172220"/>
                </a:solidFill>
                <a:latin typeface="Hiragino Sans GB"/>
              </a:rPr>
              <a:t>生态齐备意味着：入门有教程、开发有示例、复杂需求有专项模块、非技术用户有图形界面。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19456"/>
            <a:ext cx="82296" cy="566928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201168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>
                <a:solidFill>
                  <a:srgbClr val="0C705D"/>
                </a:solidFill>
                <a:latin typeface="Hiragino Sans GB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1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dirty="0" err="1">
                <a:solidFill>
                  <a:srgbClr val="172A27"/>
                </a:solidFill>
                <a:latin typeface="Songti SC"/>
              </a:rPr>
              <a:t>落地路径：五步，从数据到可用的推荐系统</a:t>
            </a:r>
            <a:endParaRPr sz="2400" b="1" dirty="0">
              <a:solidFill>
                <a:srgbClr val="172A27"/>
              </a:solidFill>
              <a:latin typeface="Songti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8686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61706C"/>
                </a:solidFill>
                <a:latin typeface="Hiragino Sans GB"/>
              </a:rPr>
              <a:t>Bgolearn · npj Computational Materials (2026) · github.com/Bin-Cao/Bgolearn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37376"/>
            <a:ext cx="548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1">
                <a:solidFill>
                  <a:srgbClr val="61706C"/>
                </a:solidFill>
                <a:latin typeface="Hiragino Sans GB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2084831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645920"/>
            <a:ext cx="2084831" cy="91440"/>
          </a:xfrm>
          <a:prstGeom prst="rect">
            <a:avLst/>
          </a:prstGeom>
          <a:solidFill>
            <a:srgbClr val="0C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527048" y="1920240"/>
            <a:ext cx="548640" cy="548640"/>
          </a:xfrm>
          <a:prstGeom prst="ellipse">
            <a:avLst/>
          </a:prstGeom>
          <a:solidFill>
            <a:srgbClr val="0C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27048" y="2039112"/>
            <a:ext cx="548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100" b="1">
                <a:solidFill>
                  <a:srgbClr val="FFFFFF"/>
                </a:solidFill>
                <a:latin typeface="Hiragino Sans GB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2084831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172A27"/>
                </a:solidFill>
                <a:latin typeface="Hiragino Sans GB"/>
              </a:rPr>
              <a:t>盘点数据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154680"/>
            <a:ext cx="1755648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1706C"/>
                </a:solidFill>
                <a:latin typeface="Hiragino Sans GB"/>
              </a:rPr>
              <a:t>收集已有实验记录，几十组也能起步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43784" y="2880360"/>
            <a:ext cx="146304" cy="0"/>
          </a:xfrm>
          <a:prstGeom prst="line">
            <a:avLst/>
          </a:prstGeom>
          <a:ln w="25400">
            <a:solidFill>
              <a:srgbClr val="0C70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90088" y="1645920"/>
            <a:ext cx="2084831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990088" y="1645920"/>
            <a:ext cx="2084831" cy="91440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739896" y="1920240"/>
            <a:ext cx="548640" cy="548640"/>
          </a:xfrm>
          <a:prstGeom prst="ellipse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39896" y="2039112"/>
            <a:ext cx="548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100" b="1">
                <a:solidFill>
                  <a:srgbClr val="FFFFFF"/>
                </a:solidFill>
                <a:latin typeface="Hiragino Sans GB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0088" y="2697480"/>
            <a:ext cx="2084831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172A27"/>
                </a:solidFill>
                <a:latin typeface="Hiragino Sans GB"/>
              </a:rPr>
              <a:t>定目标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154680"/>
            <a:ext cx="1755648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1706C"/>
                </a:solidFill>
                <a:latin typeface="Hiragino Sans GB"/>
              </a:rPr>
              <a:t>明确优化什么：单目标或多目标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56632" y="2880360"/>
            <a:ext cx="146304" cy="0"/>
          </a:xfrm>
          <a:prstGeom prst="line">
            <a:avLst/>
          </a:prstGeom>
          <a:ln w="25400">
            <a:solidFill>
              <a:srgbClr val="0C70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202936" y="1645920"/>
            <a:ext cx="2084831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202936" y="1645920"/>
            <a:ext cx="2084831" cy="91440"/>
          </a:xfrm>
          <a:prstGeom prst="rect">
            <a:avLst/>
          </a:prstGeom>
          <a:solidFill>
            <a:srgbClr val="159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52744" y="1920240"/>
            <a:ext cx="548640" cy="548640"/>
          </a:xfrm>
          <a:prstGeom prst="ellipse">
            <a:avLst/>
          </a:prstGeom>
          <a:solidFill>
            <a:srgbClr val="159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52744" y="2039112"/>
            <a:ext cx="548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100" b="1">
                <a:solidFill>
                  <a:srgbClr val="FFFFFF"/>
                </a:solidFill>
                <a:latin typeface="Hiragino Sans GB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2936" y="2697480"/>
            <a:ext cx="2084831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172A27"/>
                </a:solidFill>
                <a:latin typeface="Hiragino Sans GB"/>
              </a:rPr>
              <a:t>建基线模型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7" y="3154680"/>
            <a:ext cx="1755648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1706C"/>
                </a:solidFill>
                <a:latin typeface="Hiragino Sans GB"/>
              </a:rPr>
              <a:t>先跑通预测与不确定性评估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269479" y="2880360"/>
            <a:ext cx="146304" cy="0"/>
          </a:xfrm>
          <a:prstGeom prst="line">
            <a:avLst/>
          </a:prstGeom>
          <a:ln w="25400">
            <a:solidFill>
              <a:srgbClr val="0C70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415783" y="1645920"/>
            <a:ext cx="2084831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15783" y="1645920"/>
            <a:ext cx="2084831" cy="91440"/>
          </a:xfrm>
          <a:prstGeom prst="rect">
            <a:avLst/>
          </a:prstGeom>
          <a:solidFill>
            <a:srgbClr val="596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165592" y="1920240"/>
            <a:ext cx="548640" cy="548640"/>
          </a:xfrm>
          <a:prstGeom prst="ellipse">
            <a:avLst/>
          </a:prstGeom>
          <a:solidFill>
            <a:srgbClr val="596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65592" y="2039112"/>
            <a:ext cx="548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100" b="1">
                <a:solidFill>
                  <a:srgbClr val="FFFFFF"/>
                </a:solidFill>
                <a:latin typeface="Hiragino Sans GB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15783" y="2697480"/>
            <a:ext cx="2084831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172A27"/>
                </a:solidFill>
                <a:latin typeface="Hiragino Sans GB"/>
              </a:rPr>
              <a:t>推荐 + 验证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0375" y="3154680"/>
            <a:ext cx="1755648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1706C"/>
                </a:solidFill>
                <a:latin typeface="Hiragino Sans GB"/>
              </a:rPr>
              <a:t>系统给候选，实验验证后回填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482328" y="2880360"/>
            <a:ext cx="146304" cy="0"/>
          </a:xfrm>
          <a:prstGeom prst="line">
            <a:avLst/>
          </a:prstGeom>
          <a:ln w="25400">
            <a:solidFill>
              <a:srgbClr val="0C70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628632" y="1645920"/>
            <a:ext cx="2084831" cy="2514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628632" y="1645920"/>
            <a:ext cx="2084831" cy="91440"/>
          </a:xfrm>
          <a:prstGeom prst="rect">
            <a:avLst/>
          </a:prstGeom>
          <a:solidFill>
            <a:srgbClr val="8C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378440" y="1920240"/>
            <a:ext cx="548640" cy="548640"/>
          </a:xfrm>
          <a:prstGeom prst="ellipse">
            <a:avLst/>
          </a:prstGeom>
          <a:solidFill>
            <a:srgbClr val="8C5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378440" y="2039112"/>
            <a:ext cx="5486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100" b="1">
                <a:solidFill>
                  <a:srgbClr val="FFFFFF"/>
                </a:solidFill>
                <a:latin typeface="Hiragino Sans GB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28632" y="2697480"/>
            <a:ext cx="2084831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172A27"/>
                </a:solidFill>
                <a:latin typeface="Hiragino Sans GB"/>
              </a:rPr>
              <a:t>迭代放大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93224" y="3154680"/>
            <a:ext cx="1755648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61706C"/>
                </a:solidFill>
                <a:latin typeface="Hiragino Sans GB"/>
              </a:rPr>
              <a:t>数据越多越准，延伸到产线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4526280"/>
            <a:ext cx="10607040" cy="960120"/>
          </a:xfrm>
          <a:prstGeom prst="roundRect">
            <a:avLst/>
          </a:prstGeom>
          <a:solidFill>
            <a:srgbClr val="F4F7F5"/>
          </a:solidFill>
          <a:ln w="10160"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77240" y="4526280"/>
            <a:ext cx="73152" cy="960120"/>
          </a:xfrm>
          <a:prstGeom prst="rect">
            <a:avLst/>
          </a:prstGeom>
          <a:solidFill>
            <a:srgbClr val="0C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96695" y="4654296"/>
            <a:ext cx="10222992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0C705D"/>
                </a:solidFill>
                <a:latin typeface="Hiragino Sans GB"/>
              </a:rPr>
              <a:t>合作方式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5" y="5001768"/>
            <a:ext cx="10222992" cy="3749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rgbClr val="172220"/>
                </a:solidFill>
                <a:latin typeface="Hiragino Sans GB"/>
              </a:rPr>
              <a:t>① 数据盘点与可行性评估（免费）  ② 建模与推荐系统搭建  ③ 联合设计实验方案  ④ 培训团队自主使用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669280"/>
            <a:ext cx="10607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596BB3"/>
                </a:solidFill>
                <a:latin typeface="Hiragino Sans GB"/>
              </a:rPr>
              <a:t>从「几十组历史数据」即可起步，不需要一开始就有大数据。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F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C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5486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C9ED88"/>
                </a:solidFill>
                <a:latin typeface="Hiragino Sans GB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0584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>
                <a:solidFill>
                  <a:srgbClr val="CBD7D3"/>
                </a:solidFill>
                <a:latin typeface="Hiragino Sans GB"/>
              </a:rPr>
              <a:t>一句话记住今天：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1">
                <a:solidFill>
                  <a:srgbClr val="FFFFFF"/>
                </a:solidFill>
                <a:latin typeface="Songti SC"/>
              </a:rPr>
              <a:t>Bgolearn 让您用更少的实验，找到更好的材料。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468880"/>
            <a:ext cx="10607040" cy="10972"/>
          </a:xfrm>
          <a:prstGeom prst="rect">
            <a:avLst/>
          </a:prstGeom>
          <a:solidFill>
            <a:srgbClr val="3E5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2697480"/>
            <a:ext cx="10607040" cy="822960"/>
          </a:xfrm>
          <a:prstGeom prst="roundRect">
            <a:avLst/>
          </a:prstGeom>
          <a:solidFill>
            <a:srgbClr val="162E29"/>
          </a:solidFill>
          <a:ln w="10160">
            <a:solidFill>
              <a:srgbClr val="3E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697480"/>
            <a:ext cx="82296" cy="822960"/>
          </a:xfrm>
          <a:prstGeom prst="rect">
            <a:avLst/>
          </a:prstGeom>
          <a:solidFill>
            <a:srgbClr val="0C7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916936"/>
            <a:ext cx="20116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Hiragino Sans GB"/>
              </a:rPr>
              <a:t>已验证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944368"/>
            <a:ext cx="7863840" cy="29514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dirty="0" err="1">
                <a:solidFill>
                  <a:srgbClr val="CBD7D3"/>
                </a:solidFill>
                <a:latin typeface="Hiragino Sans GB"/>
              </a:rPr>
              <a:t>期刊论文</a:t>
            </a:r>
            <a:r>
              <a:rPr sz="1450" b="0" dirty="0">
                <a:solidFill>
                  <a:srgbClr val="CBD7D3"/>
                </a:solidFill>
                <a:latin typeface="Hiragino Sans GB"/>
              </a:rPr>
              <a:t> + </a:t>
            </a:r>
            <a:r>
              <a:rPr sz="1450" b="0" dirty="0" err="1">
                <a:solidFill>
                  <a:srgbClr val="CBD7D3"/>
                </a:solidFill>
                <a:latin typeface="Hiragino Sans GB"/>
              </a:rPr>
              <a:t>教材</a:t>
            </a:r>
            <a:r>
              <a:rPr lang="en-CN" sz="1450" b="0" dirty="0">
                <a:solidFill>
                  <a:srgbClr val="CBD7D3"/>
                </a:solidFill>
                <a:latin typeface="Hiragino Sans GB"/>
              </a:rPr>
              <a:t>采用</a:t>
            </a:r>
            <a:r>
              <a:rPr sz="1450" b="0" dirty="0">
                <a:solidFill>
                  <a:srgbClr val="CBD7D3"/>
                </a:solidFill>
                <a:latin typeface="Hiragino Sans GB"/>
              </a:rPr>
              <a:t> + </a:t>
            </a:r>
            <a:r>
              <a:rPr sz="1450" b="0" dirty="0" err="1">
                <a:solidFill>
                  <a:srgbClr val="CBD7D3"/>
                </a:solidFill>
                <a:latin typeface="Hiragino Sans GB"/>
              </a:rPr>
              <a:t>政府支持</a:t>
            </a:r>
            <a:r>
              <a:rPr sz="1450" b="0" dirty="0">
                <a:solidFill>
                  <a:srgbClr val="CBD7D3"/>
                </a:solidFill>
                <a:latin typeface="Hiragino Sans GB"/>
              </a:rPr>
              <a:t> + </a:t>
            </a:r>
            <a:r>
              <a:rPr sz="1450" b="0" dirty="0" err="1">
                <a:solidFill>
                  <a:srgbClr val="CBD7D3"/>
                </a:solidFill>
                <a:latin typeface="Hiragino Sans GB"/>
              </a:rPr>
              <a:t>多领域案例</a:t>
            </a:r>
            <a:endParaRPr sz="1450" b="0" dirty="0">
              <a:solidFill>
                <a:srgbClr val="CBD7D3"/>
              </a:solidFill>
              <a:latin typeface="Hiragino Sans GB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3657600"/>
            <a:ext cx="10607040" cy="822960"/>
          </a:xfrm>
          <a:prstGeom prst="roundRect">
            <a:avLst/>
          </a:prstGeom>
          <a:solidFill>
            <a:srgbClr val="162E29"/>
          </a:solidFill>
          <a:ln w="10160">
            <a:solidFill>
              <a:srgbClr val="3E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3657600"/>
            <a:ext cx="82296" cy="822960"/>
          </a:xfrm>
          <a:prstGeom prst="rect">
            <a:avLst/>
          </a:prstGeom>
          <a:solidFill>
            <a:srgbClr val="E97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877056"/>
            <a:ext cx="20116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Hiragino Sans GB"/>
              </a:rPr>
              <a:t>开箱即用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904487"/>
            <a:ext cx="78638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CBD7D3"/>
                </a:solidFill>
                <a:latin typeface="Hiragino Sans GB"/>
              </a:rPr>
              <a:t>一条命令安装，本地界面，示例代码，多语言文档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617720"/>
            <a:ext cx="10607040" cy="822960"/>
          </a:xfrm>
          <a:prstGeom prst="roundRect">
            <a:avLst/>
          </a:prstGeom>
          <a:solidFill>
            <a:srgbClr val="162E29"/>
          </a:solidFill>
          <a:ln w="10160">
            <a:solidFill>
              <a:srgbClr val="3E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4617720"/>
            <a:ext cx="82296" cy="822960"/>
          </a:xfrm>
          <a:prstGeom prst="rect">
            <a:avLst/>
          </a:prstGeom>
          <a:solidFill>
            <a:srgbClr val="596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837176"/>
            <a:ext cx="20116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FFFFFF"/>
                </a:solidFill>
                <a:latin typeface="Hiragino Sans GB"/>
              </a:rPr>
              <a:t>持续进化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864608"/>
            <a:ext cx="78638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>
                <a:solidFill>
                  <a:srgbClr val="CBD7D3"/>
                </a:solidFill>
                <a:latin typeface="Hiragino Sans GB"/>
              </a:rPr>
              <a:t>多目标、主动学习、虚拟筛选，一个框架全搞定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669280"/>
            <a:ext cx="10607040" cy="32964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dirty="0" err="1">
                <a:solidFill>
                  <a:srgbClr val="C9ED88"/>
                </a:solidFill>
                <a:latin typeface="Hiragino Sans GB"/>
              </a:rPr>
              <a:t>下一步：用您的历史实验数据</a:t>
            </a:r>
            <a:r>
              <a:rPr sz="1700" b="1" err="1">
                <a:solidFill>
                  <a:srgbClr val="C9ED88"/>
                </a:solidFill>
                <a:latin typeface="Hiragino Sans GB"/>
              </a:rPr>
              <a:t>，</a:t>
            </a:r>
            <a:r>
              <a:rPr sz="1700" b="1">
                <a:solidFill>
                  <a:srgbClr val="C9ED88"/>
                </a:solidFill>
                <a:latin typeface="Hiragino Sans GB"/>
              </a:rPr>
              <a:t>我们回一份</a:t>
            </a:r>
            <a:r>
              <a:rPr sz="1700" b="1" dirty="0" err="1">
                <a:solidFill>
                  <a:srgbClr val="C9ED88"/>
                </a:solidFill>
                <a:latin typeface="Hiragino Sans GB"/>
              </a:rPr>
              <a:t>「可优化的目标清单</a:t>
            </a:r>
            <a:r>
              <a:rPr sz="1700" b="1" dirty="0">
                <a:solidFill>
                  <a:srgbClr val="C9ED88"/>
                </a:solidFill>
                <a:latin typeface="Hiragino Sans GB"/>
              </a:rPr>
              <a:t>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217920"/>
            <a:ext cx="10607040" cy="24173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dirty="0" err="1">
                <a:solidFill>
                  <a:srgbClr val="A0B4AE"/>
                </a:solidFill>
                <a:latin typeface="Hiragino Sans GB"/>
              </a:rPr>
              <a:t>github.com</a:t>
            </a:r>
            <a:r>
              <a:rPr sz="1100" b="0" dirty="0">
                <a:solidFill>
                  <a:srgbClr val="A0B4AE"/>
                </a:solidFill>
                <a:latin typeface="Hiragino Sans GB"/>
              </a:rPr>
              <a:t>/Bin-Cao/</a:t>
            </a:r>
            <a:r>
              <a:rPr sz="1100" b="0" dirty="0" err="1">
                <a:solidFill>
                  <a:srgbClr val="A0B4AE"/>
                </a:solidFill>
                <a:latin typeface="Hiragino Sans GB"/>
              </a:rPr>
              <a:t>Bgolearn</a:t>
            </a:r>
            <a:r>
              <a:rPr sz="1100" b="0" dirty="0">
                <a:solidFill>
                  <a:srgbClr val="A0B4AE"/>
                </a:solidFill>
                <a:latin typeface="Hiragino Sans GB"/>
              </a:rPr>
              <a:t>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1181</Words>
  <Application>Microsoft Macintosh PowerPoint</Application>
  <PresentationFormat>Widescreen</PresentationFormat>
  <Paragraphs>308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Hiragino Sans GB</vt:lpstr>
      <vt:lpstr>Songti SC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Bgolearn — 用更少实验，发现更好的材料</dc:title>
  <dc:subject/>
  <dc:creator>材料智能团队</dc:creator>
  <cp:keywords/>
  <dc:description>generated using python-pptx</dc:description>
  <cp:lastModifiedBy>CAO Bin</cp:lastModifiedBy>
  <cp:revision>5</cp:revision>
  <dcterms:created xsi:type="dcterms:W3CDTF">2013-01-27T09:14:16Z</dcterms:created>
  <dcterms:modified xsi:type="dcterms:W3CDTF">2026-08-10T13:50:32Z</dcterms:modified>
  <cp:category/>
</cp:coreProperties>
</file>